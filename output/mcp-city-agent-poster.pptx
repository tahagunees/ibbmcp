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5113000" cy="21374100"/>
  <p:notesSz cx="6858000" cy="9144000"/>
  <p:embeddedFontLst>
    <p:embeddedFont>
      <p:font typeface="Arial Bold" panose="020B0604020202020204" charset="-94"/>
      <p:regular r:id="rId3"/>
    </p:embeddedFont>
    <p:embeddedFont>
      <p:font typeface="Red Hat Display" panose="020B0604020202020204" charset="-94"/>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3258" y="2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ns0:sld xmlns:ns0="http://schemas.openxmlformats.org/presentationml/2006/main" xmlns:ns1="http://schemas.openxmlformats.org/drawingml/2006/main" xmlns:ns2="http://schemas.openxmlformats.org/officeDocument/2006/relationships" xmlns:ns3="http://schemas.microsoft.com/office/powerpoint/2010/main" xmlns:ns4="http://schemas.microsoft.com/office/drawing/2014/main">
  <ns0:cSld>
    <ns0:spTree>
      <ns0:nvGrpSpPr>
        <ns0:cNvPr id="1" name=""/>
        <ns0:cNvGrpSpPr/>
        <ns0:nvPr/>
      </ns0:nvGrpSpPr>
      <ns0:grpSpPr>
        <ns1:xfrm>
          <ns1:off x="0" y="0"/>
          <ns1:ext cx="0" cy="0"/>
          <ns1:chOff x="0" y="0"/>
          <ns1:chExt cx="0" cy="0"/>
        </ns1:xfrm>
      </ns0:grpSpPr>
      <ns0:grpSp>
        <ns0:nvGrpSpPr>
          <ns0:cNvPr id="2" name="Group 2"/>
          <ns0:cNvGrpSpPr/>
          <ns0:nvPr/>
        </ns0:nvGrpSpPr>
        <ns0:grpSpPr>
          <ns1:xfrm>
            <ns1:off x="972282" y="6744232"/>
            <ns1:ext cx="5026017" cy="558542"/>
            <ns1:chOff x="0" y="0"/>
            <ns1:chExt cx="900606" cy="100084"/>
          </ns1:xfrm>
        </ns0:grpSpPr>
        <ns0:sp>
          <ns0:nvSpPr>
            <ns0:cNvPr id="3" name="Freeform 3"/>
            <ns0:cNvSpPr/>
            <ns0:nvPr/>
          </ns0:nvSpPr>
          <ns0:spPr>
            <ns1:xfrm>
              <ns1:off x="0" y="0"/>
              <ns1:ext cx="900606" cy="100084"/>
            </ns1:xfrm>
            <ns1:custGeom>
              <ns1:avLst/>
              <ns1:gdLst/>
              <ns1:ahLst/>
              <ns1:cxnLst/>
              <ns1:rect l="l" t="t" r="r" b="b"/>
              <ns1:pathLst>
                <ns1:path w="900606" h="100084">
                  <ns1:moveTo>
                    <ns1:pt x="50042" y="0"/>
                  </ns1:moveTo>
                  <ns1:lnTo>
                    <ns1:pt x="850563" y="0"/>
                  </ns1:lnTo>
                  <ns1:cubicBezTo>
                    <ns1:pt x="878201" y="0"/>
                    <ns1:pt x="900606" y="22405"/>
                    <ns1:pt x="900606" y="50042"/>
                  </ns1:cubicBezTo>
                  <ns1:lnTo>
                    <ns1:pt x="900606" y="50042"/>
                  </ns1:lnTo>
                  <ns1:cubicBezTo>
                    <ns1:pt x="900606" y="77680"/>
                    <ns1:pt x="878201" y="100084"/>
                    <ns1:pt x="850563" y="100084"/>
                  </ns1:cubicBezTo>
                  <ns1:lnTo>
                    <ns1:pt x="50042" y="100084"/>
                  </ns1:lnTo>
                  <ns1:cubicBezTo>
                    <ns1:pt x="22405" y="100084"/>
                    <ns1:pt x="0" y="77680"/>
                    <ns1:pt x="0" y="50042"/>
                  </ns1:cubicBezTo>
                  <ns1:lnTo>
                    <ns1:pt x="0" y="50042"/>
                  </ns1:lnTo>
                  <ns1:cubicBezTo>
                    <ns1:pt x="0" y="22405"/>
                    <ns1:pt x="22405" y="0"/>
                    <ns1:pt x="50042" y="0"/>
                  </ns1:cubicBezTo>
                  <ns1:close/>
                </ns1:path>
              </ns1:pathLst>
            </ns1:custGeom>
            <ns1:solidFill>
              <ns1:srgbClr val="235C8D"/>
            </ns1:solidFill>
          </ns0:spPr>
          <ns0:txBody>
            <ns1:bodyPr/>
            <ns1:lstStyle/>
            <ns1:p>
              <ns1:endParaRPr lang="tr-TR" dirty="0"/>
            </ns1:p>
          </ns0:txBody>
        </ns0:sp>
        <ns0:sp>
          <ns0:nvSpPr>
            <ns0:cNvPr id="4" name="TextBox 4"/>
            <ns0:cNvSpPr txBox="1"/>
            <ns0:nvPr/>
          </ns0:nvSpPr>
          <ns0:spPr>
            <ns1:xfrm>
              <ns1:off x="0" y="-47625"/>
              <ns1:ext cx="900606" cy="147709"/>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5" name="Group 5"/>
          <ns0:cNvGrpSpPr/>
          <ns0:nvPr/>
        </ns0:nvGrpSpPr>
        <ns0:grpSpPr>
          <ns1:xfrm>
            <ns1:off x="717557" y="6619385"/>
            <ns1:ext cx="878898" cy="878898"/>
            <ns1:chOff x="0" y="0"/>
            <ns1:chExt cx="812800" cy="812800"/>
          </ns1:xfrm>
        </ns0:grpSpPr>
        <ns0:sp>
          <ns0:nvSpPr>
            <ns0:cNvPr id="6" name="Freeform 6"/>
            <ns0:cNvSpPr/>
            <ns0:nvPr/>
          </ns0:nvSpPr>
          <ns0:spPr>
            <ns1:xfrm>
              <ns1:off x="0" y="0"/>
              <ns1:ext cx="812800" cy="812800"/>
            </ns1:xfrm>
            <ns1:custGeom>
              <ns1:avLst/>
              <ns1:gdLst/>
              <ns1:ahLst/>
              <ns1:cxnLst/>
              <ns1:rect l="l" t="t" r="r" b="b"/>
              <ns1:pathLst>
                <ns1:path w="812800" h="812800">
                  <ns1:moveTo>
                    <ns1:pt x="406400" y="0"/>
                  </ns1:moveTo>
                  <ns1:cubicBezTo>
                    <ns1:pt x="181951" y="0"/>
                    <ns1:pt x="0" y="181951"/>
                    <ns1:pt x="0" y="406400"/>
                  </ns1:cubicBezTo>
                  <ns1:cubicBezTo>
                    <ns1:pt x="0" y="630849"/>
                    <ns1:pt x="181951" y="812800"/>
                    <ns1:pt x="406400" y="812800"/>
                  </ns1:cubicBezTo>
                  <ns1:cubicBezTo>
                    <ns1:pt x="630849" y="812800"/>
                    <ns1:pt x="812800" y="630849"/>
                    <ns1:pt x="812800" y="406400"/>
                  </ns1:cubicBezTo>
                  <ns1:cubicBezTo>
                    <ns1:pt x="812800" y="181951"/>
                    <ns1:pt x="630849" y="0"/>
                    <ns1:pt x="406400" y="0"/>
                  </ns1:cubicBezTo>
                  <ns1:close/>
                </ns1:path>
              </ns1:pathLst>
            </ns1:custGeom>
            <ns1:solidFill>
              <ns1:srgbClr val="FFFFFF"/>
            </ns1:solidFill>
            <ns1:ln w="104775" cap="sq">
              <ns1:solidFill>
                <ns1:srgbClr val="235C8D"/>
              </ns1:solidFill>
              <ns1:prstDash val="solid"/>
              <ns1:miter/>
            </ns1:ln>
          </ns0:spPr>
          <ns0:txBody>
            <ns1:bodyPr/>
            <ns1:lstStyle/>
            <ns1:p>
              <ns1:endParaRPr lang="tr-TR" dirty="0"/>
            </ns1:p>
          </ns0:txBody>
        </ns0:sp>
        <ns0:sp>
          <ns0:nvSpPr>
            <ns0:cNvPr id="7" name="TextBox 7"/>
            <ns0:cNvSpPr txBox="1"/>
            <ns0:nvPr/>
          </ns0:nvSpPr>
          <ns0:spPr>
            <ns1:xfrm>
              <ns1:off x="76200" y="28575"/>
              <ns1:ext cx="660400" cy="708025"/>
            </ns1:xfrm>
            <ns1:prstGeom prst="rect">
              <ns1:avLst/>
            </ns1:prstGeom>
          </ns0:spPr>
          <ns0:txBody>
            <ns1:bodyPr lIns="23333" tIns="23333" rIns="23333" bIns="23333" rtlCol="0" anchor="ctr"/>
            <ns1:lstStyle/>
            <ns1:p>
              <ns1:pPr algn="ctr">
                <ns1:lnSpc>
                  <ns1:spcPts val="3986"/>
                </ns1:lnSpc>
              </ns1:pPr>
              <ns1:endParaRPr lang="tr-TR" dirty="0"/>
            </ns1:p>
          </ns0:txBody>
        </ns0:sp>
      </ns0:grpSp>
      <ns0:grpSp>
        <ns0:nvGrpSpPr>
          <ns0:cNvPr id="8" name="Group 8"/>
          <ns0:cNvGrpSpPr/>
          <ns0:nvPr/>
        </ns0:nvGrpSpPr>
        <ns0:grpSpPr>
          <ns1:xfrm>
            <ns1:off x="0" y="3020037"/>
            <ns1:ext cx="15176500" cy="524844"/>
            <ns1:chOff x="0" y="0"/>
            <ns1:chExt cx="2951314" cy="98943"/>
          </ns1:xfrm>
        </ns0:grpSpPr>
        <ns0:sp>
          <ns0:nvSpPr>
            <ns0:cNvPr id="9" name="Freeform 9"/>
            <ns0:cNvSpPr/>
            <ns0:nvPr/>
          </ns0:nvSpPr>
          <ns0:spPr>
            <ns1:xfrm>
              <ns1:off x="0" y="0"/>
              <ns1:ext cx="2951314" cy="98943"/>
            </ns1:xfrm>
            <ns1:custGeom>
              <ns1:avLst/>
              <ns1:gdLst/>
              <ns1:ahLst/>
              <ns1:cxnLst/>
              <ns1:rect l="l" t="t" r="r" b="b"/>
              <ns1:pathLst>
                <ns1:path w="2951314" h="98943">
                  <ns1:moveTo>
                    <ns1:pt x="0" y="0"/>
                  </ns1:moveTo>
                  <ns1:lnTo>
                    <ns1:pt x="2951314" y="0"/>
                  </ns1:lnTo>
                  <ns1:lnTo>
                    <ns1:pt x="2951314" y="98943"/>
                  </ns1:lnTo>
                  <ns1:lnTo>
                    <ns1:pt x="0" y="98943"/>
                  </ns1:lnTo>
                  <ns1:close/>
                </ns1:path>
              </ns1:pathLst>
            </ns1:custGeom>
            <ns1:solidFill>
              <ns1:srgbClr val="235C8D"/>
            </ns1:solidFill>
          </ns0:spPr>
          <ns0:txBody>
            <ns1:bodyPr/>
            <ns1:lstStyle/>
            <ns1:p>
              <ns1:endParaRPr lang="tr-TR" dirty="0"/>
            </ns1:p>
          </ns0:txBody>
        </ns0:sp>
        <ns0:sp>
          <ns0:nvSpPr>
            <ns0:cNvPr id="10" name="TextBox 10"/>
            <ns0:cNvSpPr txBox="1"/>
            <ns0:nvPr/>
          </ns0:nvSpPr>
          <ns0:spPr>
            <ns1:xfrm>
              <ns1:off x="0" y="-47625"/>
              <ns1:ext cx="2951314" cy="146568"/>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11" name="Group 11"/>
          <ns0:cNvGrpSpPr/>
          <ns0:nvPr/>
        </ns0:nvGrpSpPr>
        <ns0:grpSpPr>
          <ns1:xfrm>
            <ns1:off x="6915677" y="4259031"/>
            <ns1:ext cx="7721485" cy="558542"/>
            <ns1:chOff x="0" y="0"/>
            <ns1:chExt cx="1383603" cy="100084"/>
          </ns1:xfrm>
        </ns0:grpSpPr>
        <ns0:sp>
          <ns0:nvSpPr>
            <ns0:cNvPr id="12" name="Freeform 12"/>
            <ns0:cNvSpPr/>
            <ns0:nvPr/>
          </ns0:nvSpPr>
          <ns0:spPr>
            <ns1:xfrm>
              <ns1:off x="0" y="0"/>
              <ns1:ext cx="1383603" cy="100084"/>
            </ns1:xfrm>
            <ns1:custGeom>
              <ns1:avLst/>
              <ns1:gdLst/>
              <ns1:ahLst/>
              <ns1:cxnLst/>
              <ns1:rect l="l" t="t" r="r" b="b"/>
              <ns1:pathLst>
                <ns1:path w="1383603" h="100084">
                  <ns1:moveTo>
                    <ns1:pt x="46122" y="0"/>
                  </ns1:moveTo>
                  <ns1:lnTo>
                    <ns1:pt x="1337481" y="0"/>
                  </ns1:lnTo>
                  <ns1:cubicBezTo>
                    <ns1:pt x="1349713" y="0"/>
                    <ns1:pt x="1361445" y="4859"/>
                    <ns1:pt x="1370094" y="13509"/>
                  </ns1:cubicBezTo>
                  <ns1:cubicBezTo>
                    <ns1:pt x="1378744" y="22158"/>
                    <ns1:pt x="1383603" y="33889"/>
                    <ns1:pt x="1383603" y="46122"/>
                  </ns1:cubicBezTo>
                  <ns1:lnTo>
                    <ns1:pt x="1383603" y="53963"/>
                  </ns1:lnTo>
                  <ns1:cubicBezTo>
                    <ns1:pt x="1383603" y="66195"/>
                    <ns1:pt x="1378744" y="77926"/>
                    <ns1:pt x="1370094" y="86576"/>
                  </ns1:cubicBezTo>
                  <ns1:cubicBezTo>
                    <ns1:pt x="1361445" y="95225"/>
                    <ns1:pt x="1349713" y="100084"/>
                    <ns1:pt x="1337481" y="100084"/>
                  </ns1:cubicBezTo>
                  <ns1:lnTo>
                    <ns1:pt x="46122" y="100084"/>
                  </ns1:lnTo>
                  <ns1:cubicBezTo>
                    <ns1:pt x="33889" y="100084"/>
                    <ns1:pt x="22158" y="95225"/>
                    <ns1:pt x="13509" y="86576"/>
                  </ns1:cubicBezTo>
                  <ns1:cubicBezTo>
                    <ns1:pt x="4859" y="77926"/>
                    <ns1:pt x="0" y="66195"/>
                    <ns1:pt x="0" y="53963"/>
                  </ns1:cubicBezTo>
                  <ns1:lnTo>
                    <ns1:pt x="0" y="46122"/>
                  </ns1:lnTo>
                  <ns1:cubicBezTo>
                    <ns1:pt x="0" y="33889"/>
                    <ns1:pt x="4859" y="22158"/>
                    <ns1:pt x="13509" y="13509"/>
                  </ns1:cubicBezTo>
                  <ns1:cubicBezTo>
                    <ns1:pt x="22158" y="4859"/>
                    <ns1:pt x="33889" y="0"/>
                    <ns1:pt x="46122" y="0"/>
                  </ns1:cubicBezTo>
                  <ns1:close/>
                </ns1:path>
              </ns1:pathLst>
            </ns1:custGeom>
            <ns1:solidFill>
              <ns1:srgbClr val="235C8D"/>
            </ns1:solidFill>
          </ns0:spPr>
          <ns0:txBody>
            <ns1:bodyPr/>
            <ns1:lstStyle/>
            <ns1:p>
              <ns1:endParaRPr lang="tr-TR" dirty="0"/>
            </ns1:p>
          </ns0:txBody>
        </ns0:sp>
        <ns0:sp>
          <ns0:nvSpPr>
            <ns0:cNvPr id="13" name="TextBox 13"/>
            <ns0:cNvSpPr txBox="1"/>
            <ns0:nvPr/>
          </ns0:nvSpPr>
          <ns0:spPr>
            <ns1:xfrm>
              <ns1:off x="0" y="-47625"/>
              <ns1:ext cx="1383603" cy="147709"/>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14" name="Group 14"/>
          <ns0:cNvGrpSpPr/>
          <ns0:nvPr/>
        </ns0:nvGrpSpPr>
        <ns0:grpSpPr>
          <ns1:xfrm>
            <ns1:off x="6660952" y="4134184"/>
            <ns1:ext cx="878898" cy="878898"/>
            <ns1:chOff x="0" y="0"/>
            <ns1:chExt cx="812800" cy="812800"/>
          </ns1:xfrm>
        </ns0:grpSpPr>
        <ns0:sp>
          <ns0:nvSpPr>
            <ns0:cNvPr id="15" name="Freeform 15"/>
            <ns0:cNvSpPr/>
            <ns0:nvPr/>
          </ns0:nvSpPr>
          <ns0:spPr>
            <ns1:xfrm>
              <ns1:off x="0" y="0"/>
              <ns1:ext cx="812800" cy="812800"/>
            </ns1:xfrm>
            <ns1:custGeom>
              <ns1:avLst/>
              <ns1:gdLst/>
              <ns1:ahLst/>
              <ns1:cxnLst/>
              <ns1:rect l="l" t="t" r="r" b="b"/>
              <ns1:pathLst>
                <ns1:path w="812800" h="812800">
                  <ns1:moveTo>
                    <ns1:pt x="406400" y="0"/>
                  </ns1:moveTo>
                  <ns1:cubicBezTo>
                    <ns1:pt x="181951" y="0"/>
                    <ns1:pt x="0" y="181951"/>
                    <ns1:pt x="0" y="406400"/>
                  </ns1:cubicBezTo>
                  <ns1:cubicBezTo>
                    <ns1:pt x="0" y="630849"/>
                    <ns1:pt x="181951" y="812800"/>
                    <ns1:pt x="406400" y="812800"/>
                  </ns1:cubicBezTo>
                  <ns1:cubicBezTo>
                    <ns1:pt x="630849" y="812800"/>
                    <ns1:pt x="812800" y="630849"/>
                    <ns1:pt x="812800" y="406400"/>
                  </ns1:cubicBezTo>
                  <ns1:cubicBezTo>
                    <ns1:pt x="812800" y="181951"/>
                    <ns1:pt x="630849" y="0"/>
                    <ns1:pt x="406400" y="0"/>
                  </ns1:cubicBezTo>
                  <ns1:close/>
                </ns1:path>
              </ns1:pathLst>
            </ns1:custGeom>
            <ns1:solidFill>
              <ns1:srgbClr val="FFFFFF"/>
            </ns1:solidFill>
            <ns1:ln w="104775" cap="sq">
              <ns1:solidFill>
                <ns1:srgbClr val="235C8D"/>
              </ns1:solidFill>
              <ns1:prstDash val="solid"/>
              <ns1:miter/>
            </ns1:ln>
          </ns0:spPr>
          <ns0:txBody>
            <ns1:bodyPr/>
            <ns1:lstStyle/>
            <ns1:p>
              <ns1:endParaRPr lang="tr-TR" dirty="0"/>
            </ns1:p>
          </ns0:txBody>
        </ns0:sp>
        <ns0:sp>
          <ns0:nvSpPr>
            <ns0:cNvPr id="16" name="TextBox 16"/>
            <ns0:cNvSpPr txBox="1"/>
            <ns0:nvPr/>
          </ns0:nvSpPr>
          <ns0:spPr>
            <ns1:xfrm>
              <ns1:off x="76200" y="28575"/>
              <ns1:ext cx="660400" cy="708025"/>
            </ns1:xfrm>
            <ns1:prstGeom prst="rect">
              <ns1:avLst/>
            </ns1:prstGeom>
          </ns0:spPr>
          <ns0:txBody>
            <ns1:bodyPr lIns="23333" tIns="23333" rIns="23333" bIns="23333" rtlCol="0" anchor="ctr"/>
            <ns1:lstStyle/>
            <ns1:p>
              <ns1:pPr algn="ctr">
                <ns1:lnSpc>
                  <ns1:spcPts val="3986"/>
                </ns1:lnSpc>
              </ns1:pPr>
              <ns1:endParaRPr lang="tr-TR" dirty="0"/>
            </ns1:p>
          </ns0:txBody>
        </ns0:sp>
      </ns0:grpSp>
      <ns0:grpSp>
        <ns0:nvGrpSpPr>
          <ns0:cNvPr id="17" name="Group 17"/>
          <ns0:cNvGrpSpPr/>
          <ns0:nvPr/>
        </ns0:nvGrpSpPr>
        <ns0:grpSpPr>
          <ns1:xfrm>
            <ns1:off x="8949331" y="8154974"/>
            <ns1:ext cx="1799280" cy="914721"/>
            <ns1:chOff x="0" y="0"/>
            <ns1:chExt cx="449626" cy="228582"/>
          </ns1:xfrm>
        </ns0:grpSpPr>
        <ns0:sp>
          <ns0:nvSpPr>
            <ns0:cNvPr id="18" name="Freeform 18"/>
            <ns0:cNvSpPr/>
            <ns0:nvPr/>
          </ns0:nvSpPr>
          <ns0:spPr>
            <ns1:xfrm>
              <ns1:off x="0" y="0"/>
              <ns1:ext cx="449626" cy="228582"/>
            </ns1:xfrm>
            <ns1:custGeom>
              <ns1:avLst/>
              <ns1:gdLst/>
              <ns1:ahLst/>
              <ns1:cxnLst/>
              <ns1:rect l="l" t="t" r="r" b="b"/>
              <ns1:pathLst>
                <ns1:path w="449626" h="228582">
                  <ns1:moveTo>
                    <ns1:pt x="81753" y="0"/>
                  </ns1:moveTo>
                  <ns1:lnTo>
                    <ns1:pt x="367873" y="0"/>
                  </ns1:lnTo>
                  <ns1:cubicBezTo>
                    <ns1:pt x="389555" y="0"/>
                    <ns1:pt x="410350" y="8613"/>
                    <ns1:pt x="425681" y="23945"/>
                  </ns1:cubicBezTo>
                  <ns1:cubicBezTo>
                    <ns1:pt x="441013" y="39277"/>
                    <ns1:pt x="449626" y="60071"/>
                    <ns1:pt x="449626" y="81753"/>
                  </ns1:cubicBezTo>
                  <ns1:lnTo>
                    <ns1:pt x="449626" y="146829"/>
                  </ns1:lnTo>
                  <ns1:cubicBezTo>
                    <ns1:pt x="449626" y="168511"/>
                    <ns1:pt x="441013" y="189305"/>
                    <ns1:pt x="425681" y="204637"/>
                  </ns1:cubicBezTo>
                  <ns1:cubicBezTo>
                    <ns1:pt x="410350" y="219968"/>
                    <ns1:pt x="389555" y="228582"/>
                    <ns1:pt x="367873" y="228582"/>
                  </ns1:cubicBezTo>
                  <ns1:lnTo>
                    <ns1:pt x="81753" y="228582"/>
                  </ns1:lnTo>
                  <ns1:cubicBezTo>
                    <ns1:pt x="60071" y="228582"/>
                    <ns1:pt x="39277" y="219968"/>
                    <ns1:pt x="23945" y="204637"/>
                  </ns1:cubicBezTo>
                  <ns1:cubicBezTo>
                    <ns1:pt x="8613" y="189305"/>
                    <ns1:pt x="0" y="168511"/>
                    <ns1:pt x="0" y="146829"/>
                  </ns1:cubicBezTo>
                  <ns1:lnTo>
                    <ns1:pt x="0" y="81753"/>
                  </ns1:lnTo>
                  <ns1:cubicBezTo>
                    <ns1:pt x="0" y="60071"/>
                    <ns1:pt x="8613" y="39277"/>
                    <ns1:pt x="23945" y="23945"/>
                  </ns1:cubicBezTo>
                  <ns1:cubicBezTo>
                    <ns1:pt x="39277" y="8613"/>
                    <ns1:pt x="60071" y="0"/>
                    <ns1:pt x="81753" y="0"/>
                  </ns1:cubicBezTo>
                  <ns1:close/>
                </ns1:path>
              </ns1:pathLst>
            </ns1:custGeom>
            <ns1:solidFill>
              <ns1:srgbClr val="539DCD"/>
            </ns1:solidFill>
          </ns0:spPr>
          <ns0:txBody>
            <ns1:bodyPr/>
            <ns1:lstStyle/>
            <ns1:p>
              <ns1:endParaRPr lang="tr-TR" dirty="0"/>
            </ns1:p>
          </ns0:txBody>
        </ns0:sp>
        <ns0:sp>
          <ns0:nvSpPr>
            <ns0:cNvPr id="19" name="TextBox 19"/>
            <ns0:cNvSpPr txBox="1"/>
            <ns0:nvPr/>
          </ns0:nvSpPr>
          <ns0:spPr>
            <ns1:xfrm>
              <ns1:off x="0" y="-47625"/>
              <ns1:ext cx="449626" cy="276207"/>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20" name="Group 20"/>
          <ns0:cNvGrpSpPr/>
          <ns0:nvPr/>
        </ns0:nvGrpSpPr>
        <ns0:grpSpPr>
          <ns1:xfrm>
            <ns1:off x="6979426" y="8154974"/>
            <ns1:ext cx="1799280" cy="914721"/>
            <ns1:chOff x="0" y="0"/>
            <ns1:chExt cx="449626" cy="228582"/>
          </ns1:xfrm>
        </ns0:grpSpPr>
        <ns0:sp>
          <ns0:nvSpPr>
            <ns0:cNvPr id="21" name="Freeform 21"/>
            <ns0:cNvSpPr/>
            <ns0:nvPr/>
          </ns0:nvSpPr>
          <ns0:spPr>
            <ns1:xfrm>
              <ns1:off x="0" y="0"/>
              <ns1:ext cx="449626" cy="228582"/>
            </ns1:xfrm>
            <ns1:custGeom>
              <ns1:avLst/>
              <ns1:gdLst/>
              <ns1:ahLst/>
              <ns1:cxnLst/>
              <ns1:rect l="l" t="t" r="r" b="b"/>
              <ns1:pathLst>
                <ns1:path w="449626" h="228582">
                  <ns1:moveTo>
                    <ns1:pt x="81753" y="0"/>
                  </ns1:moveTo>
                  <ns1:lnTo>
                    <ns1:pt x="367873" y="0"/>
                  </ns1:lnTo>
                  <ns1:cubicBezTo>
                    <ns1:pt x="389555" y="0"/>
                    <ns1:pt x="410350" y="8613"/>
                    <ns1:pt x="425681" y="23945"/>
                  </ns1:cubicBezTo>
                  <ns1:cubicBezTo>
                    <ns1:pt x="441013" y="39277"/>
                    <ns1:pt x="449626" y="60071"/>
                    <ns1:pt x="449626" y="81753"/>
                  </ns1:cubicBezTo>
                  <ns1:lnTo>
                    <ns1:pt x="449626" y="146829"/>
                  </ns1:lnTo>
                  <ns1:cubicBezTo>
                    <ns1:pt x="449626" y="168511"/>
                    <ns1:pt x="441013" y="189305"/>
                    <ns1:pt x="425681" y="204637"/>
                  </ns1:cubicBezTo>
                  <ns1:cubicBezTo>
                    <ns1:pt x="410350" y="219968"/>
                    <ns1:pt x="389555" y="228582"/>
                    <ns1:pt x="367873" y="228582"/>
                  </ns1:cubicBezTo>
                  <ns1:lnTo>
                    <ns1:pt x="81753" y="228582"/>
                  </ns1:lnTo>
                  <ns1:cubicBezTo>
                    <ns1:pt x="60071" y="228582"/>
                    <ns1:pt x="39277" y="219968"/>
                    <ns1:pt x="23945" y="204637"/>
                  </ns1:cubicBezTo>
                  <ns1:cubicBezTo>
                    <ns1:pt x="8613" y="189305"/>
                    <ns1:pt x="0" y="168511"/>
                    <ns1:pt x="0" y="146829"/>
                  </ns1:cubicBezTo>
                  <ns1:lnTo>
                    <ns1:pt x="0" y="81753"/>
                  </ns1:lnTo>
                  <ns1:cubicBezTo>
                    <ns1:pt x="0" y="60071"/>
                    <ns1:pt x="8613" y="39277"/>
                    <ns1:pt x="23945" y="23945"/>
                  </ns1:cubicBezTo>
                  <ns1:cubicBezTo>
                    <ns1:pt x="39277" y="8613"/>
                    <ns1:pt x="60071" y="0"/>
                    <ns1:pt x="81753" y="0"/>
                  </ns1:cubicBezTo>
                  <ns1:close/>
                </ns1:path>
              </ns1:pathLst>
            </ns1:custGeom>
            <ns1:gradFill rotWithShape="1">
              <ns1:gsLst>
                <ns1:gs pos="0">
                  <ns1:srgbClr val="CDFFD8">
                    <ns1:alpha val="100000"/>
                  </ns1:srgbClr>
                </ns1:gs>
                <ns1:gs pos="100000">
                  <ns1:srgbClr val="94B9FF">
                    <ns1:alpha val="100000"/>
                  </ns1:srgbClr>
                </ns1:gs>
              </ns1:gsLst>
              <ns1:lin ang="0"/>
            </ns1:gradFill>
          </ns0:spPr>
          <ns0:txBody>
            <ns1:bodyPr/>
            <ns1:lstStyle/>
            <ns1:p>
              <ns1:endParaRPr lang="tr-TR" dirty="0"/>
            </ns1:p>
          </ns0:txBody>
        </ns0:sp>
        <ns0:sp>
          <ns0:nvSpPr>
            <ns0:cNvPr id="22" name="TextBox 22"/>
            <ns0:cNvSpPr txBox="1"/>
            <ns0:nvPr/>
          </ns0:nvSpPr>
          <ns0:spPr>
            <ns1:xfrm>
              <ns1:off x="0" y="-47625"/>
              <ns1:ext cx="449626" cy="276207"/>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23" name="Group 23"/>
          <ns0:cNvGrpSpPr/>
          <ns0:nvPr/>
        </ns0:nvGrpSpPr>
        <ns0:grpSpPr>
          <ns1:xfrm>
            <ns1:off x="12891268" y="8154974"/>
            <ns1:ext cx="1799280" cy="914721"/>
            <ns1:chOff x="0" y="0"/>
            <ns1:chExt cx="449626" cy="228582"/>
          </ns1:xfrm>
        </ns0:grpSpPr>
        <ns0:sp>
          <ns0:nvSpPr>
            <ns0:cNvPr id="24" name="Freeform 24"/>
            <ns0:cNvSpPr/>
            <ns0:nvPr/>
          </ns0:nvSpPr>
          <ns0:spPr>
            <ns1:xfrm>
              <ns1:off x="0" y="0"/>
              <ns1:ext cx="449626" cy="228582"/>
            </ns1:xfrm>
            <ns1:custGeom>
              <ns1:avLst/>
              <ns1:gdLst/>
              <ns1:ahLst/>
              <ns1:cxnLst/>
              <ns1:rect l="l" t="t" r="r" b="b"/>
              <ns1:pathLst>
                <ns1:path w="449626" h="228582">
                  <ns1:moveTo>
                    <ns1:pt x="81753" y="0"/>
                  </ns1:moveTo>
                  <ns1:lnTo>
                    <ns1:pt x="367873" y="0"/>
                  </ns1:lnTo>
                  <ns1:cubicBezTo>
                    <ns1:pt x="389555" y="0"/>
                    <ns1:pt x="410350" y="8613"/>
                    <ns1:pt x="425681" y="23945"/>
                  </ns1:cubicBezTo>
                  <ns1:cubicBezTo>
                    <ns1:pt x="441013" y="39277"/>
                    <ns1:pt x="449626" y="60071"/>
                    <ns1:pt x="449626" y="81753"/>
                  </ns1:cubicBezTo>
                  <ns1:lnTo>
                    <ns1:pt x="449626" y="146829"/>
                  </ns1:lnTo>
                  <ns1:cubicBezTo>
                    <ns1:pt x="449626" y="168511"/>
                    <ns1:pt x="441013" y="189305"/>
                    <ns1:pt x="425681" y="204637"/>
                  </ns1:cubicBezTo>
                  <ns1:cubicBezTo>
                    <ns1:pt x="410350" y="219968"/>
                    <ns1:pt x="389555" y="228582"/>
                    <ns1:pt x="367873" y="228582"/>
                  </ns1:cubicBezTo>
                  <ns1:lnTo>
                    <ns1:pt x="81753" y="228582"/>
                  </ns1:lnTo>
                  <ns1:cubicBezTo>
                    <ns1:pt x="60071" y="228582"/>
                    <ns1:pt x="39277" y="219968"/>
                    <ns1:pt x="23945" y="204637"/>
                  </ns1:cubicBezTo>
                  <ns1:cubicBezTo>
                    <ns1:pt x="8613" y="189305"/>
                    <ns1:pt x="0" y="168511"/>
                    <ns1:pt x="0" y="146829"/>
                  </ns1:cubicBezTo>
                  <ns1:lnTo>
                    <ns1:pt x="0" y="81753"/>
                  </ns1:lnTo>
                  <ns1:cubicBezTo>
                    <ns1:pt x="0" y="60071"/>
                    <ns1:pt x="8613" y="39277"/>
                    <ns1:pt x="23945" y="23945"/>
                  </ns1:cubicBezTo>
                  <ns1:cubicBezTo>
                    <ns1:pt x="39277" y="8613"/>
                    <ns1:pt x="60071" y="0"/>
                    <ns1:pt x="81753" y="0"/>
                  </ns1:cubicBezTo>
                  <ns1:close/>
                </ns1:path>
              </ns1:pathLst>
            </ns1:custGeom>
            <ns1:solidFill>
              <ns1:srgbClr val="235C8D"/>
            </ns1:solidFill>
          </ns0:spPr>
          <ns0:txBody>
            <ns1:bodyPr/>
            <ns1:lstStyle/>
            <ns1:p>
              <ns1:endParaRPr lang="tr-TR" dirty="0"/>
            </ns1:p>
          </ns0:txBody>
        </ns0:sp>
        <ns0:sp>
          <ns0:nvSpPr>
            <ns0:cNvPr id="25" name="TextBox 25"/>
            <ns0:cNvSpPr txBox="1"/>
            <ns0:nvPr/>
          </ns0:nvSpPr>
          <ns0:spPr>
            <ns1:xfrm>
              <ns1:off x="0" y="-47625"/>
              <ns1:ext cx="449626" cy="276207"/>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26" name="Group 26"/>
          <ns0:cNvGrpSpPr/>
          <ns0:nvPr/>
        </ns0:nvGrpSpPr>
        <ns0:grpSpPr>
          <ns1:xfrm>
            <ns1:off x="10919236" y="8154974"/>
            <ns1:ext cx="1799280" cy="914721"/>
            <ns1:chOff x="0" y="0"/>
            <ns1:chExt cx="449626" cy="228582"/>
          </ns1:xfrm>
        </ns0:grpSpPr>
        <ns0:sp>
          <ns0:nvSpPr>
            <ns0:cNvPr id="27" name="Freeform 27"/>
            <ns0:cNvSpPr/>
            <ns0:nvPr/>
          </ns0:nvSpPr>
          <ns0:spPr>
            <ns1:xfrm>
              <ns1:off x="0" y="0"/>
              <ns1:ext cx="449626" cy="228582"/>
            </ns1:xfrm>
            <ns1:custGeom>
              <ns1:avLst/>
              <ns1:gdLst/>
              <ns1:ahLst/>
              <ns1:cxnLst/>
              <ns1:rect l="l" t="t" r="r" b="b"/>
              <ns1:pathLst>
                <ns1:path w="449626" h="228582">
                  <ns1:moveTo>
                    <ns1:pt x="81753" y="0"/>
                  </ns1:moveTo>
                  <ns1:lnTo>
                    <ns1:pt x="367873" y="0"/>
                  </ns1:lnTo>
                  <ns1:cubicBezTo>
                    <ns1:pt x="389555" y="0"/>
                    <ns1:pt x="410350" y="8613"/>
                    <ns1:pt x="425681" y="23945"/>
                  </ns1:cubicBezTo>
                  <ns1:cubicBezTo>
                    <ns1:pt x="441013" y="39277"/>
                    <ns1:pt x="449626" y="60071"/>
                    <ns1:pt x="449626" y="81753"/>
                  </ns1:cubicBezTo>
                  <ns1:lnTo>
                    <ns1:pt x="449626" y="146829"/>
                  </ns1:lnTo>
                  <ns1:cubicBezTo>
                    <ns1:pt x="449626" y="168511"/>
                    <ns1:pt x="441013" y="189305"/>
                    <ns1:pt x="425681" y="204637"/>
                  </ns1:cubicBezTo>
                  <ns1:cubicBezTo>
                    <ns1:pt x="410350" y="219968"/>
                    <ns1:pt x="389555" y="228582"/>
                    <ns1:pt x="367873" y="228582"/>
                  </ns1:cubicBezTo>
                  <ns1:lnTo>
                    <ns1:pt x="81753" y="228582"/>
                  </ns1:lnTo>
                  <ns1:cubicBezTo>
                    <ns1:pt x="60071" y="228582"/>
                    <ns1:pt x="39277" y="219968"/>
                    <ns1:pt x="23945" y="204637"/>
                  </ns1:cubicBezTo>
                  <ns1:cubicBezTo>
                    <ns1:pt x="8613" y="189305"/>
                    <ns1:pt x="0" y="168511"/>
                    <ns1:pt x="0" y="146829"/>
                  </ns1:cubicBezTo>
                  <ns1:lnTo>
                    <ns1:pt x="0" y="81753"/>
                  </ns1:lnTo>
                  <ns1:cubicBezTo>
                    <ns1:pt x="0" y="60071"/>
                    <ns1:pt x="8613" y="39277"/>
                    <ns1:pt x="23945" y="23945"/>
                  </ns1:cubicBezTo>
                  <ns1:cubicBezTo>
                    <ns1:pt x="39277" y="8613"/>
                    <ns1:pt x="60071" y="0"/>
                    <ns1:pt x="81753" y="0"/>
                  </ns1:cubicBezTo>
                  <ns1:close/>
                </ns1:path>
              </ns1:pathLst>
            </ns1:custGeom>
            <ns1:solidFill>
              <ns1:srgbClr val="3385C0"/>
            </ns1:solidFill>
          </ns0:spPr>
          <ns0:txBody>
            <ns1:bodyPr/>
            <ns1:lstStyle/>
            <ns1:p>
              <ns1:endParaRPr lang="tr-TR" dirty="0"/>
            </ns1:p>
          </ns0:txBody>
        </ns0:sp>
        <ns0:sp>
          <ns0:nvSpPr>
            <ns0:cNvPr id="28" name="TextBox 28"/>
            <ns0:cNvSpPr txBox="1"/>
            <ns0:nvPr/>
          </ns0:nvSpPr>
          <ns0:spPr>
            <ns1:xfrm>
              <ns1:off x="0" y="-47625"/>
              <ns1:ext cx="449626" cy="276207"/>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29" name="Group 29"/>
          <ns0:cNvGrpSpPr/>
          <ns0:nvPr/>
        </ns0:nvGrpSpPr>
        <ns0:grpSpPr>
          <ns1:xfrm>
            <ns1:off x="734102" y="9632042"/>
            <ns1:ext cx="13972991" cy="558542"/>
            <ns1:chOff x="0" y="0"/>
            <ns1:chExt cx="2503802" cy="100084"/>
          </ns1:xfrm>
        </ns0:grpSpPr>
        <ns0:sp>
          <ns0:nvSpPr>
            <ns0:cNvPr id="30" name="Freeform 30"/>
            <ns0:cNvSpPr/>
            <ns0:nvPr/>
          </ns0:nvSpPr>
          <ns0:spPr>
            <ns1:xfrm>
              <ns1:off x="0" y="0"/>
              <ns1:ext cx="2503802" cy="100084"/>
            </ns1:xfrm>
            <ns1:custGeom>
              <ns1:avLst/>
              <ns1:gdLst/>
              <ns1:ahLst/>
              <ns1:cxnLst/>
              <ns1:rect l="l" t="t" r="r" b="b"/>
              <ns1:pathLst>
                <ns1:path w="2503802" h="100084">
                  <ns1:moveTo>
                    <ns1:pt x="25487" y="0"/>
                  </ns1:moveTo>
                  <ns1:lnTo>
                    <ns1:pt x="2478316" y="0"/>
                  </ns1:lnTo>
                  <ns1:cubicBezTo>
                    <ns1:pt x="2485075" y="0"/>
                    <ns1:pt x="2491558" y="2685"/>
                    <ns1:pt x="2496338" y="7465"/>
                  </ns1:cubicBezTo>
                  <ns1:cubicBezTo>
                    <ns1:pt x="2501117" y="12245"/>
                    <ns1:pt x="2503802" y="18727"/>
                    <ns1:pt x="2503802" y="25487"/>
                  </ns1:cubicBezTo>
                  <ns1:lnTo>
                    <ns1:pt x="2503802" y="74598"/>
                  </ns1:lnTo>
                  <ns1:cubicBezTo>
                    <ns1:pt x="2503802" y="81357"/>
                    <ns1:pt x="2501117" y="87840"/>
                    <ns1:pt x="2496338" y="92620"/>
                  </ns1:cubicBezTo>
                  <ns1:cubicBezTo>
                    <ns1:pt x="2491558" y="97399"/>
                    <ns1:pt x="2485075" y="100084"/>
                    <ns1:pt x="2478316" y="100084"/>
                  </ns1:cubicBezTo>
                  <ns1:lnTo>
                    <ns1:pt x="25487" y="100084"/>
                  </ns1:lnTo>
                  <ns1:cubicBezTo>
                    <ns1:pt x="18727" y="100084"/>
                    <ns1:pt x="12245" y="97399"/>
                    <ns1:pt x="7465" y="92620"/>
                  </ns1:cubicBezTo>
                  <ns1:cubicBezTo>
                    <ns1:pt x="2685" y="87840"/>
                    <ns1:pt x="0" y="81357"/>
                    <ns1:pt x="0" y="74598"/>
                  </ns1:cubicBezTo>
                  <ns1:lnTo>
                    <ns1:pt x="0" y="25487"/>
                  </ns1:lnTo>
                  <ns1:cubicBezTo>
                    <ns1:pt x="0" y="18727"/>
                    <ns1:pt x="2685" y="12245"/>
                    <ns1:pt x="7465" y="7465"/>
                  </ns1:cubicBezTo>
                  <ns1:cubicBezTo>
                    <ns1:pt x="12245" y="2685"/>
                    <ns1:pt x="18727" y="0"/>
                    <ns1:pt x="25487" y="0"/>
                  </ns1:cubicBezTo>
                  <ns1:close/>
                </ns1:path>
              </ns1:pathLst>
            </ns1:custGeom>
            <ns1:solidFill>
              <ns1:srgbClr val="235C8D"/>
            </ns1:solidFill>
          </ns0:spPr>
          <ns0:txBody>
            <ns1:bodyPr/>
            <ns1:lstStyle/>
            <ns1:p>
              <ns1:endParaRPr lang="tr-TR" dirty="0"/>
            </ns1:p>
          </ns0:txBody>
        </ns0:sp>
        <ns0:sp>
          <ns0:nvSpPr>
            <ns0:cNvPr id="31" name="TextBox 31"/>
            <ns0:cNvSpPr txBox="1"/>
            <ns0:nvPr/>
          </ns0:nvSpPr>
          <ns0:spPr>
            <ns1:xfrm>
              <ns1:off x="0" y="-47625"/>
              <ns1:ext cx="2503802" cy="147709"/>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32" name="Group 32"/>
          <ns0:cNvGrpSpPr/>
          <ns0:nvPr/>
        </ns0:nvGrpSpPr>
        <ns0:grpSpPr>
          <ns1:xfrm>
            <ns1:off x="479377" y="9507195"/>
            <ns1:ext cx="878898" cy="878898"/>
            <ns1:chOff x="0" y="0"/>
            <ns1:chExt cx="812800" cy="812800"/>
          </ns1:xfrm>
        </ns0:grpSpPr>
        <ns0:sp>
          <ns0:nvSpPr>
            <ns0:cNvPr id="33" name="Freeform 33"/>
            <ns0:cNvSpPr/>
            <ns0:nvPr/>
          </ns0:nvSpPr>
          <ns0:spPr>
            <ns1:xfrm>
              <ns1:off x="0" y="0"/>
              <ns1:ext cx="812800" cy="812800"/>
            </ns1:xfrm>
            <ns1:custGeom>
              <ns1:avLst/>
              <ns1:gdLst/>
              <ns1:ahLst/>
              <ns1:cxnLst/>
              <ns1:rect l="l" t="t" r="r" b="b"/>
              <ns1:pathLst>
                <ns1:path w="812800" h="812800">
                  <ns1:moveTo>
                    <ns1:pt x="406400" y="0"/>
                  </ns1:moveTo>
                  <ns1:cubicBezTo>
                    <ns1:pt x="181951" y="0"/>
                    <ns1:pt x="0" y="181951"/>
                    <ns1:pt x="0" y="406400"/>
                  </ns1:cubicBezTo>
                  <ns1:cubicBezTo>
                    <ns1:pt x="0" y="630849"/>
                    <ns1:pt x="181951" y="812800"/>
                    <ns1:pt x="406400" y="812800"/>
                  </ns1:cubicBezTo>
                  <ns1:cubicBezTo>
                    <ns1:pt x="630849" y="812800"/>
                    <ns1:pt x="812800" y="630849"/>
                    <ns1:pt x="812800" y="406400"/>
                  </ns1:cubicBezTo>
                  <ns1:cubicBezTo>
                    <ns1:pt x="812800" y="181951"/>
                    <ns1:pt x="630849" y="0"/>
                    <ns1:pt x="406400" y="0"/>
                  </ns1:cubicBezTo>
                  <ns1:close/>
                </ns1:path>
              </ns1:pathLst>
            </ns1:custGeom>
            <ns1:solidFill>
              <ns1:srgbClr val="FFFFFF"/>
            </ns1:solidFill>
            <ns1:ln w="104775" cap="sq">
              <ns1:solidFill>
                <ns1:srgbClr val="235C8D"/>
              </ns1:solidFill>
              <ns1:prstDash val="solid"/>
              <ns1:miter/>
            </ns1:ln>
          </ns0:spPr>
          <ns0:txBody>
            <ns1:bodyPr/>
            <ns1:lstStyle/>
            <ns1:p>
              <ns1:endParaRPr lang="tr-TR" dirty="0"/>
            </ns1:p>
          </ns0:txBody>
        </ns0:sp>
        <ns0:sp>
          <ns0:nvSpPr>
            <ns0:cNvPr id="34" name="TextBox 34"/>
            <ns0:cNvSpPr txBox="1"/>
            <ns0:nvPr/>
          </ns0:nvSpPr>
          <ns0:spPr>
            <ns1:xfrm>
              <ns1:off x="76200" y="28575"/>
              <ns1:ext cx="660400" cy="708025"/>
            </ns1:xfrm>
            <ns1:prstGeom prst="rect">
              <ns1:avLst/>
            </ns1:prstGeom>
          </ns0:spPr>
          <ns0:txBody>
            <ns1:bodyPr lIns="23333" tIns="23333" rIns="23333" bIns="23333" rtlCol="0" anchor="ctr"/>
            <ns1:lstStyle/>
            <ns1:p>
              <ns1:pPr algn="ctr">
                <ns1:lnSpc>
                  <ns1:spcPts val="3986"/>
                </ns1:lnSpc>
              </ns1:pPr>
              <ns1:endParaRPr lang="tr-TR" dirty="0"/>
            </ns1:p>
          </ns0:txBody>
        </ns0:sp>
      </ns0:grpSp>
      <ns0:grpSp>
        <ns0:nvGrpSpPr>
          <ns0:cNvPr id="35" name="Group 35"/>
          <ns0:cNvGrpSpPr/>
          <ns0:nvPr/>
        </ns0:nvGrpSpPr>
        <ns0:grpSpPr>
          <ns1:xfrm>
            <ns1:off x="950770" y="15020068"/>
            <ns1:ext cx="13540322" cy="1903211"/>
            <ns1:chOff x="0" y="0"/>
            <ns1:chExt cx="3383622" cy="475598"/>
          </ns1:xfrm>
        </ns0:grpSpPr>
        <ns0:sp>
          <ns0:nvSpPr>
            <ns0:cNvPr id="36" name="Freeform 36"/>
            <ns0:cNvSpPr/>
            <ns0:nvPr/>
          </ns0:nvSpPr>
          <ns0:spPr>
            <ns1:xfrm>
              <ns1:off x="0" y="0"/>
              <ns1:ext cx="3383622" cy="475598"/>
            </ns1:xfrm>
            <ns1:custGeom>
              <ns1:avLst/>
              <ns1:gdLst/>
              <ns1:ahLst/>
              <ns1:cxnLst/>
              <ns1:rect l="l" t="t" r="r" b="b"/>
              <ns1:pathLst>
                <ns1:path w="3383622" h="475598">
                  <ns1:moveTo>
                    <ns1:pt x="10864" y="0"/>
                  </ns1:moveTo>
                  <ns1:lnTo>
                    <ns1:pt x="3372758" y="0"/>
                  </ns1:lnTo>
                  <ns1:cubicBezTo>
                    <ns1:pt x="3378758" y="0"/>
                    <ns1:pt x="3383622" y="4864"/>
                    <ns1:pt x="3383622" y="10864"/>
                  </ns1:cubicBezTo>
                  <ns1:lnTo>
                    <ns1:pt x="3383622" y="464734"/>
                  </ns1:lnTo>
                  <ns1:cubicBezTo>
                    <ns1:pt x="3383622" y="470734"/>
                    <ns1:pt x="3378758" y="475598"/>
                    <ns1:pt x="3372758" y="475598"/>
                  </ns1:cubicBezTo>
                  <ns1:lnTo>
                    <ns1:pt x="10864" y="475598"/>
                  </ns1:lnTo>
                  <ns1:cubicBezTo>
                    <ns1:pt x="4864" y="475598"/>
                    <ns1:pt x="0" y="470734"/>
                    <ns1:pt x="0" y="464734"/>
                  </ns1:cubicBezTo>
                  <ns1:lnTo>
                    <ns1:pt x="0" y="10864"/>
                  </ns1:lnTo>
                  <ns1:cubicBezTo>
                    <ns1:pt x="0" y="4864"/>
                    <ns1:pt x="4864" y="0"/>
                    <ns1:pt x="10864" y="0"/>
                  </ns1:cubicBezTo>
                  <ns1:close/>
                </ns1:path>
              </ns1:pathLst>
            </ns1:custGeom>
            <ns1:solidFill>
              <ns1:srgbClr val="539DCD"/>
            </ns1:solidFill>
          </ns0:spPr>
          <ns0:txBody>
            <ns1:bodyPr/>
            <ns1:lstStyle/>
            <ns1:p>
              <ns1:endParaRPr lang="tr-TR" dirty="0"/>
            </ns1:p>
          </ns0:txBody>
        </ns0:sp>
        <ns0:sp>
          <ns0:nvSpPr>
            <ns0:cNvPr id="37" name="TextBox 37"/>
            <ns0:cNvSpPr txBox="1"/>
            <ns0:nvPr/>
          </ns0:nvSpPr>
          <ns0:spPr>
            <ns1:xfrm>
              <ns1:off x="0" y="-47625"/>
              <ns1:ext cx="3383622" cy="523223"/>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38" name="Group 38"/>
          <ns0:cNvGrpSpPr/>
          <ns0:nvPr/>
        </ns0:nvGrpSpPr>
        <ns0:grpSpPr>
          <ns1:xfrm>
            <ns1:off x="1232966" y="15248934"/>
            <ns1:ext cx="1122911" cy="1376678"/>
            <ns1:chOff x="0" y="0"/>
            <ns1:chExt cx="166133" cy="203677"/>
          </ns1:xfrm>
        </ns0:grpSpPr>
        <ns0:sp>
          <ns0:nvSpPr>
            <ns0:cNvPr id="39" name="Freeform 39"/>
            <ns0:cNvSpPr/>
            <ns0:nvPr/>
          </ns0:nvSpPr>
          <ns0:spPr>
            <ns1:xfrm>
              <ns1:off x="0" y="0"/>
              <ns1:ext cx="166133" cy="203677"/>
            </ns1:xfrm>
            <ns1:custGeom>
              <ns1:avLst/>
              <ns1:gdLst/>
              <ns1:ahLst/>
              <ns1:cxnLst/>
              <ns1:rect l="l" t="t" r="r" b="b"/>
              <ns1:pathLst>
                <ns1:path w="166133" h="203677">
                  <ns1:moveTo>
                    <ns1:pt x="0" y="0"/>
                  </ns1:moveTo>
                  <ns1:lnTo>
                    <ns1:pt x="166133" y="0"/>
                  </ns1:lnTo>
                  <ns1:lnTo>
                    <ns1:pt x="166133" y="203677"/>
                  </ns1:lnTo>
                  <ns1:lnTo>
                    <ns1:pt x="0" y="203677"/>
                  </ns1:lnTo>
                  <ns1:close/>
                </ns1:path>
              </ns1:pathLst>
            </ns1:custGeom>
            <ns1:blipFill>
              <ns1:blip ns2:embed="rId2"/>
              <ns1:stretch>
                <ns1:fillRect l="-41834" r="-41834"/>
              </ns1:stretch>
            </ns1:blipFill>
          </ns0:spPr>
          <ns0:txBody>
            <ns1:bodyPr/>
            <ns1:lstStyle/>
            <ns1:p>
              <ns1:endParaRPr lang="tr-TR" dirty="0"/>
            </ns1:p>
          </ns0:txBody>
        </ns0:sp>
      </ns0:grpSp>
      <ns0:grpSp>
        <ns0:nvGrpSpPr>
          <ns0:cNvPr id="40" name="Group 40"/>
          <ns0:cNvGrpSpPr/>
          <ns0:nvPr/>
        </ns0:nvGrpSpPr>
        <ns0:grpSpPr>
          <ns1:xfrm>
            <ns1:off x="2520017" y="15248934"/>
            <ns1:ext cx="1122911" cy="1376678"/>
            <ns1:chOff x="0" y="0"/>
            <ns1:chExt cx="166133" cy="203677"/>
          </ns1:xfrm>
        </ns0:grpSpPr>
        <ns0:sp>
          <ns0:nvSpPr>
            <ns0:cNvPr id="41" name="Freeform 41"/>
            <ns0:cNvSpPr/>
            <ns0:nvPr/>
          </ns0:nvSpPr>
          <ns0:spPr>
            <ns1:xfrm>
              <ns1:off x="0" y="0"/>
              <ns1:ext cx="166133" cy="203677"/>
            </ns1:xfrm>
            <ns1:custGeom>
              <ns1:avLst/>
              <ns1:gdLst/>
              <ns1:ahLst/>
              <ns1:cxnLst/>
              <ns1:rect l="l" t="t" r="r" b="b"/>
              <ns1:pathLst>
                <ns1:path w="166133" h="203677">
                  <ns1:moveTo>
                    <ns1:pt x="0" y="0"/>
                  </ns1:moveTo>
                  <ns1:lnTo>
                    <ns1:pt x="166133" y="0"/>
                  </ns1:lnTo>
                  <ns1:lnTo>
                    <ns1:pt x="166133" y="203677"/>
                  </ns1:lnTo>
                  <ns1:lnTo>
                    <ns1:pt x="0" y="203677"/>
                  </ns1:lnTo>
                  <ns1:close/>
                </ns1:path>
              </ns1:pathLst>
            </ns1:custGeom>
            <ns1:blipFill>
              <ns1:blip ns2:embed="rId3"/>
              <ns1:stretch>
                <ns1:fillRect l="-41834" r="-41834"/>
              </ns1:stretch>
            </ns1:blipFill>
          </ns0:spPr>
          <ns0:txBody>
            <ns1:bodyPr/>
            <ns1:lstStyle/>
            <ns1:p>
              <ns1:endParaRPr lang="tr-TR" dirty="0"/>
            </ns1:p>
          </ns0:txBody>
        </ns0:sp>
      </ns0:grpSp>
      <ns0:grpSp>
        <ns0:nvGrpSpPr>
          <ns0:cNvPr id="42" name="Group 42"/>
          <ns0:cNvGrpSpPr/>
          <ns0:nvPr/>
        </ns0:nvGrpSpPr>
        <ns0:grpSpPr>
          <ns1:xfrm>
            <ns1:off x="8667012" y="8364974"/>
            <ns1:ext cx="564638" cy="443722"/>
            <ns1:chOff x="0" y="0"/>
            <ns1:chExt cx="825193" cy="648481"/>
          </ns1:xfrm>
        </ns0:grpSpPr>
        <ns0:sp>
          <ns0:nvSpPr>
            <ns0:cNvPr id="43" name="Freeform 43"/>
            <ns0:cNvSpPr/>
            <ns0:nvPr/>
          </ns0:nvSpPr>
          <ns0:spPr>
            <ns1:xfrm>
              <ns1:off x="0" y="0"/>
              <ns1:ext cx="825193" cy="648481"/>
            </ns1:xfrm>
            <ns1:custGeom>
              <ns1:avLst/>
              <ns1:gdLst/>
              <ns1:ahLst/>
              <ns1:cxnLst/>
              <ns1:rect l="l" t="t" r="r" b="b"/>
              <ns1:pathLst>
                <ns1:path w="825193" h="648481">
                  <ns1:moveTo>
                    <ns1:pt x="825193" y="324240"/>
                  </ns1:moveTo>
                  <ns1:lnTo>
                    <ns1:pt x="418793" y="0"/>
                  </ns1:lnTo>
                  <ns1:lnTo>
                    <ns1:pt x="418793" y="203200"/>
                  </ns1:lnTo>
                  <ns1:lnTo>
                    <ns1:pt x="0" y="203200"/>
                  </ns1:lnTo>
                  <ns1:lnTo>
                    <ns1:pt x="0" y="445281"/>
                  </ns1:lnTo>
                  <ns1:lnTo>
                    <ns1:pt x="418793" y="445281"/>
                  </ns1:lnTo>
                  <ns1:lnTo>
                    <ns1:pt x="418793" y="648481"/>
                  </ns1:lnTo>
                  <ns1:lnTo>
                    <ns1:pt x="825193" y="324240"/>
                  </ns1:lnTo>
                  <ns1:close/>
                </ns1:path>
              </ns1:pathLst>
            </ns1:custGeom>
            <ns1:gradFill rotWithShape="1">
              <ns1:gsLst>
                <ns1:gs pos="0">
                  <ns1:srgbClr val="CDFFD8">
                    <ns1:alpha val="100000"/>
                  </ns1:srgbClr>
                </ns1:gs>
                <ns1:gs pos="100000">
                  <ns1:srgbClr val="94B9FF">
                    <ns1:alpha val="100000"/>
                  </ns1:srgbClr>
                </ns1:gs>
              </ns1:gsLst>
              <ns1:lin ang="0"/>
            </ns1:gradFill>
          </ns0:spPr>
          <ns0:txBody>
            <ns1:bodyPr/>
            <ns1:lstStyle/>
            <ns1:p>
              <ns1:endParaRPr lang="tr-TR" dirty="0"/>
            </ns1:p>
          </ns0:txBody>
        </ns0:sp>
        <ns0:sp>
          <ns0:nvSpPr>
            <ns0:cNvPr id="44" name="TextBox 44"/>
            <ns0:cNvSpPr txBox="1"/>
            <ns0:nvPr/>
          </ns0:nvSpPr>
          <ns0:spPr>
            <ns1:xfrm>
              <ns1:off x="0" y="155575"/>
              <ns1:ext cx="723593" cy="289706"/>
            </ns1:xfrm>
            <ns1:prstGeom prst="rect">
              <ns1:avLst/>
            </ns1:prstGeom>
          </ns0:spPr>
          <ns0:txBody>
            <ns1:bodyPr lIns="23333" tIns="23333" rIns="23333" bIns="23333" rtlCol="0" anchor="ctr"/>
            <ns1:lstStyle/>
            <ns1:p>
              <ns1:pPr algn="ctr">
                <ns1:lnSpc>
                  <ns1:spcPts val="3986"/>
                </ns1:lnSpc>
              </ns1:pPr>
              <ns1:endParaRPr lang="tr-TR" dirty="0"/>
            </ns1:p>
          </ns0:txBody>
        </ns0:sp>
      </ns0:grpSp>
      <ns0:grpSp>
        <ns0:nvGrpSpPr>
          <ns0:cNvPr id="45" name="Group 45"/>
          <ns0:cNvGrpSpPr/>
          <ns0:nvPr/>
        </ns0:nvGrpSpPr>
        <ns0:grpSpPr>
          <ns1:xfrm>
            <ns1:off x="10552668" y="8390473"/>
            <ns1:ext cx="564638" cy="443722"/>
            <ns1:chOff x="0" y="0"/>
            <ns1:chExt cx="825193" cy="648481"/>
          </ns1:xfrm>
        </ns0:grpSpPr>
        <ns0:sp>
          <ns0:nvSpPr>
            <ns0:cNvPr id="46" name="Freeform 46"/>
            <ns0:cNvSpPr/>
            <ns0:nvPr/>
          </ns0:nvSpPr>
          <ns0:spPr>
            <ns1:xfrm>
              <ns1:off x="0" y="0"/>
              <ns1:ext cx="825193" cy="648481"/>
            </ns1:xfrm>
            <ns1:custGeom>
              <ns1:avLst/>
              <ns1:gdLst/>
              <ns1:ahLst/>
              <ns1:cxnLst/>
              <ns1:rect l="l" t="t" r="r" b="b"/>
              <ns1:pathLst>
                <ns1:path w="825193" h="648481">
                  <ns1:moveTo>
                    <ns1:pt x="825193" y="324240"/>
                  </ns1:moveTo>
                  <ns1:lnTo>
                    <ns1:pt x="418793" y="0"/>
                  </ns1:lnTo>
                  <ns1:lnTo>
                    <ns1:pt x="418793" y="203200"/>
                  </ns1:lnTo>
                  <ns1:lnTo>
                    <ns1:pt x="0" y="203200"/>
                  </ns1:lnTo>
                  <ns1:lnTo>
                    <ns1:pt x="0" y="445281"/>
                  </ns1:lnTo>
                  <ns1:lnTo>
                    <ns1:pt x="418793" y="445281"/>
                  </ns1:lnTo>
                  <ns1:lnTo>
                    <ns1:pt x="418793" y="648481"/>
                  </ns1:lnTo>
                  <ns1:lnTo>
                    <ns1:pt x="825193" y="324240"/>
                  </ns1:lnTo>
                  <ns1:close/>
                </ns1:path>
              </ns1:pathLst>
            </ns1:custGeom>
            <ns1:gradFill rotWithShape="1">
              <ns1:gsLst>
                <ns1:gs pos="0">
                  <ns1:srgbClr val="CDFFD8">
                    <ns1:alpha val="100000"/>
                  </ns1:srgbClr>
                </ns1:gs>
                <ns1:gs pos="100000">
                  <ns1:srgbClr val="94B9FF">
                    <ns1:alpha val="100000"/>
                  </ns1:srgbClr>
                </ns1:gs>
              </ns1:gsLst>
              <ns1:lin ang="0"/>
            </ns1:gradFill>
          </ns0:spPr>
          <ns0:txBody>
            <ns1:bodyPr/>
            <ns1:lstStyle/>
            <ns1:p>
              <ns1:endParaRPr lang="tr-TR" dirty="0"/>
            </ns1:p>
          </ns0:txBody>
        </ns0:sp>
        <ns0:sp>
          <ns0:nvSpPr>
            <ns0:cNvPr id="47" name="TextBox 47"/>
            <ns0:cNvSpPr txBox="1"/>
            <ns0:nvPr/>
          </ns0:nvSpPr>
          <ns0:spPr>
            <ns1:xfrm>
              <ns1:off x="0" y="155575"/>
              <ns1:ext cx="723593" cy="289706"/>
            </ns1:xfrm>
            <ns1:prstGeom prst="rect">
              <ns1:avLst/>
            </ns1:prstGeom>
          </ns0:spPr>
          <ns0:txBody>
            <ns1:bodyPr lIns="23333" tIns="23333" rIns="23333" bIns="23333" rtlCol="0" anchor="ctr"/>
            <ns1:lstStyle/>
            <ns1:p>
              <ns1:pPr algn="ctr">
                <ns1:lnSpc>
                  <ns1:spcPts val="3986"/>
                </ns1:lnSpc>
              </ns1:pPr>
              <ns1:endParaRPr lang="tr-TR" dirty="0"/>
            </ns1:p>
          </ns0:txBody>
        </ns0:sp>
      </ns0:grpSp>
      <ns0:grpSp>
        <ns0:nvGrpSpPr>
          <ns0:cNvPr id="48" name="Group 48"/>
          <ns0:cNvGrpSpPr/>
          <ns0:nvPr/>
        </ns0:nvGrpSpPr>
        <ns0:grpSpPr>
          <ns1:xfrm>
            <ns1:off x="12608949" y="8420814"/>
            <ns1:ext cx="564638" cy="443722"/>
            <ns1:chOff x="0" y="0"/>
            <ns1:chExt cx="825193" cy="648481"/>
          </ns1:xfrm>
        </ns0:grpSpPr>
        <ns0:sp>
          <ns0:nvSpPr>
            <ns0:cNvPr id="49" name="Freeform 49"/>
            <ns0:cNvSpPr/>
            <ns0:nvPr/>
          </ns0:nvSpPr>
          <ns0:spPr>
            <ns1:xfrm>
              <ns1:off x="0" y="0"/>
              <ns1:ext cx="825193" cy="648481"/>
            </ns1:xfrm>
            <ns1:custGeom>
              <ns1:avLst/>
              <ns1:gdLst/>
              <ns1:ahLst/>
              <ns1:cxnLst/>
              <ns1:rect l="l" t="t" r="r" b="b"/>
              <ns1:pathLst>
                <ns1:path w="825193" h="648481">
                  <ns1:moveTo>
                    <ns1:pt x="825193" y="324240"/>
                  </ns1:moveTo>
                  <ns1:lnTo>
                    <ns1:pt x="418793" y="0"/>
                  </ns1:lnTo>
                  <ns1:lnTo>
                    <ns1:pt x="418793" y="203200"/>
                  </ns1:lnTo>
                  <ns1:lnTo>
                    <ns1:pt x="0" y="203200"/>
                  </ns1:lnTo>
                  <ns1:lnTo>
                    <ns1:pt x="0" y="445281"/>
                  </ns1:lnTo>
                  <ns1:lnTo>
                    <ns1:pt x="418793" y="445281"/>
                  </ns1:lnTo>
                  <ns1:lnTo>
                    <ns1:pt x="418793" y="648481"/>
                  </ns1:lnTo>
                  <ns1:lnTo>
                    <ns1:pt x="825193" y="324240"/>
                  </ns1:lnTo>
                  <ns1:close/>
                </ns1:path>
              </ns1:pathLst>
            </ns1:custGeom>
            <ns1:gradFill rotWithShape="1">
              <ns1:gsLst>
                <ns1:gs pos="0">
                  <ns1:srgbClr val="CDFFD8">
                    <ns1:alpha val="100000"/>
                  </ns1:srgbClr>
                </ns1:gs>
                <ns1:gs pos="100000">
                  <ns1:srgbClr val="94B9FF">
                    <ns1:alpha val="100000"/>
                  </ns1:srgbClr>
                </ns1:gs>
              </ns1:gsLst>
              <ns1:lin ang="0"/>
            </ns1:gradFill>
          </ns0:spPr>
          <ns0:txBody>
            <ns1:bodyPr/>
            <ns1:lstStyle/>
            <ns1:p>
              <ns1:endParaRPr lang="tr-TR" dirty="0"/>
            </ns1:p>
          </ns0:txBody>
        </ns0:sp>
        <ns0:sp>
          <ns0:nvSpPr>
            <ns0:cNvPr id="50" name="TextBox 50"/>
            <ns0:cNvSpPr txBox="1"/>
            <ns0:nvPr/>
          </ns0:nvSpPr>
          <ns0:spPr>
            <ns1:xfrm>
              <ns1:off x="0" y="155575"/>
              <ns1:ext cx="723593" cy="289706"/>
            </ns1:xfrm>
            <ns1:prstGeom prst="rect">
              <ns1:avLst/>
            </ns1:prstGeom>
          </ns0:spPr>
          <ns0:txBody>
            <ns1:bodyPr lIns="23333" tIns="23333" rIns="23333" bIns="23333" rtlCol="0" anchor="ctr"/>
            <ns1:lstStyle/>
            <ns1:p>
              <ns1:pPr algn="ctr">
                <ns1:lnSpc>
                  <ns1:spcPts val="3986"/>
                </ns1:lnSpc>
              </ns1:pPr>
              <ns1:endParaRPr lang="tr-TR" dirty="0"/>
            </ns1:p>
          </ns0:txBody>
        </ns0:sp>
      </ns0:grpSp>
      <ns0:graphicFrame>
        <ns0:nvGraphicFramePr>
          <ns0:cNvPr id="51" name="Table 51"/>
          <ns0:cNvGraphicFramePr>
            <ns1:graphicFrameLocks noGrp="1"/>
          </ns0:cNvGraphicFramePr>
          <ns0:nvPr>
            <ns0:extLst>
              <ns0:ext uri="{D42A27DB-BD31-4B8C-83A1-F6EECF244321}">
                <ns3:modId val="700653355"/>
              </ns0:ext>
            </ns0:extLst>
          </ns0:nvPr>
        </ns0:nvGraphicFramePr>
        <ns0:xfrm>
          <ns1:off x="962293" y="12755885"/>
          <ns1:ext cx="6818508" cy="1239588"/>
        </ns0:xfrm>
        <ns1:graphic>
          <ns1:graphicData uri="http://schemas.openxmlformats.org/drawingml/2006/table">
            <ns1:tbl>
              <ns1:tblPr/>
              <ns1:tblGrid>
                <ns1:gridCol w="1704627">
                  <ns1:extLst>
                    <ns1:ext uri="{9D8B030D-6E8A-4147-A177-3AD203B41FA5}">
                      <ns4:colId val="20000"/>
                    </ns1:ext>
                  </ns1:extLst>
                </ns1:gridCol>
                <ns1:gridCol w="1704627">
                  <ns1:extLst>
                    <ns1:ext uri="{9D8B030D-6E8A-4147-A177-3AD203B41FA5}">
                      <ns4:colId val="20001"/>
                    </ns1:ext>
                  </ns1:extLst>
                </ns1:gridCol>
                <ns1:gridCol w="1704627">
                  <ns1:extLst>
                    <ns1:ext uri="{9D8B030D-6E8A-4147-A177-3AD203B41FA5}">
                      <ns4:colId val="20002"/>
                    </ns1:ext>
                  </ns1:extLst>
                </ns1:gridCol>
                <ns1:gridCol w="1704627">
                  <ns1:extLst>
                    <ns1:ext uri="{9D8B030D-6E8A-4147-A177-3AD203B41FA5}">
                      <ns4:colId val="20003"/>
                    </ns1:ext>
                  </ns1:extLst>
                </ns1:gridCol>
              </ns1:tblGrid>
              <ns1:tr h="0">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solidFill>
                      <ns1:srgbClr val="3385C0"/>
                    </ns1:solidFill>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solidFill>
                      <ns1:srgbClr val="3385C0"/>
                    </ns1:solidFill>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solidFill>
                      <ns1:srgbClr val="3385C0"/>
                    </ns1:solidFill>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solidFill>
                      <ns1:srgbClr val="3385C0"/>
                    </ns1:solidFill>
                  </ns1:tcPr>
                </ns1:tc>
                <ns1:extLst>
                  <ns1:ext uri="{0D108BD9-81ED-4DB2-BD59-A6C34878D82A}">
                    <ns4:rowId val="10000"/>
                  </ns1:ext>
                </ns1:extLst>
              </ns1:tr>
              <ns1:tr h="0">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extLst>
                  <ns1:ext uri="{0D108BD9-81ED-4DB2-BD59-A6C34878D82A}">
                    <ns4:rowId val="10001"/>
                  </ns1:ext>
                </ns1:extLst>
              </ns1:tr>
              <ns1:tr h="0">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extLst>
                  <ns1:ext uri="{0D108BD9-81ED-4DB2-BD59-A6C34878D82A}">
                    <ns4:rowId val="10002"/>
                  </ns1:ext>
                </ns1:extLst>
              </ns1:tr>
              <ns1:tr h="0">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tc>
                  <ns1:txBody>
                    <ns1:bodyPr/>
                    <ns1:lstStyle/>
                    <ns1:p>
                      <ns1:pPr algn="ctr">
                        <ns1:lnSpc>
                          <ns1:spcPts val="1112"/>
                        </ns1:lnSpc>
                        <ns1:defRPr/>
                      </ns1:pPr>
                      <ns1:endParaRPr lang="en-US" sz="1100" dirty="0"/>
                    </ns1:p>
                  </ns1:txBody>
                  <ns1:tcPr marL="84114" marR="84114" marT="84114" marB="84114" anchor="ctr">
                    <ns1:lnL w="5571" cap="flat" cmpd="sng" algn="ctr">
                      <ns1:solidFill>
                        <ns1:srgbClr val="000000"/>
                      </ns1:solidFill>
                      <ns1:prstDash val="solid"/>
                      <ns1:round/>
                      <ns1:headEnd type="none" w="med" len="med"/>
                      <ns1:tailEnd type="none" w="med" len="med"/>
                    </ns1:lnL>
                    <ns1:lnR w="5571" cap="flat" cmpd="sng" algn="ctr">
                      <ns1:solidFill>
                        <ns1:srgbClr val="000000"/>
                      </ns1:solidFill>
                      <ns1:prstDash val="solid"/>
                      <ns1:round/>
                      <ns1:headEnd type="none" w="med" len="med"/>
                      <ns1:tailEnd type="none" w="med" len="med"/>
                    </ns1:lnR>
                    <ns1:lnT w="5571" cap="flat" cmpd="sng" algn="ctr">
                      <ns1:solidFill>
                        <ns1:srgbClr val="000000"/>
                      </ns1:solidFill>
                      <ns1:prstDash val="solid"/>
                      <ns1:round/>
                      <ns1:headEnd type="none" w="med" len="med"/>
                      <ns1:tailEnd type="none" w="med" len="med"/>
                    </ns1:lnT>
                    <ns1:lnB w="5571" cap="flat" cmpd="sng" algn="ctr">
                      <ns1:solidFill>
                        <ns1:srgbClr val="000000"/>
                      </ns1:solidFill>
                      <ns1:prstDash val="solid"/>
                      <ns1:round/>
                      <ns1:headEnd type="none" w="med" len="med"/>
                      <ns1:tailEnd type="none" w="med" len="med"/>
                    </ns1:lnB>
                  </ns1:tcPr>
                </ns1:tc>
                <ns1:extLst>
                  <ns1:ext uri="{0D108BD9-81ED-4DB2-BD59-A6C34878D82A}">
                    <ns4:rowId val="10003"/>
                  </ns1:ext>
                </ns1:extLst>
              </ns1:tr>
            </ns1:tbl>
          </ns1:graphicData>
        </ns1:graphic>
      </ns0:graphicFrame>
      <ns0:grpSp>
        <ns0:nvGrpSpPr>
          <ns0:cNvPr id="52" name="Group 52"/>
          <ns0:cNvGrpSpPr/>
          <ns0:nvPr/>
        </ns0:nvGrpSpPr>
        <ns0:grpSpPr>
          <ns1:xfrm>
            <ns1:off x="717557" y="17608126"/>
            <ns1:ext cx="7405952" cy="558542"/>
            <ns1:chOff x="0" y="0"/>
            <ns1:chExt cx="1327063" cy="100084"/>
          </ns1:xfrm>
        </ns0:grpSpPr>
        <ns0:sp>
          <ns0:nvSpPr>
            <ns0:cNvPr id="53" name="Freeform 53"/>
            <ns0:cNvSpPr/>
            <ns0:nvPr/>
          </ns0:nvSpPr>
          <ns0:spPr>
            <ns1:xfrm>
              <ns1:off x="0" y="0"/>
              <ns1:ext cx="1327063" cy="100084"/>
            </ns1:xfrm>
            <ns1:custGeom>
              <ns1:avLst/>
              <ns1:gdLst/>
              <ns1:ahLst/>
              <ns1:cxnLst/>
              <ns1:rect l="l" t="t" r="r" b="b"/>
              <ns1:pathLst>
                <ns1:path w="1327063" h="100084">
                  <ns1:moveTo>
                    <ns1:pt x="48087" y="0"/>
                  </ns1:moveTo>
                  <ns1:lnTo>
                    <ns1:pt x="1278976" y="0"/>
                  </ns1:lnTo>
                  <ns1:cubicBezTo>
                    <ns1:pt x="1305534" y="0"/>
                    <ns1:pt x="1327063" y="21529"/>
                    <ns1:pt x="1327063" y="48087"/>
                  </ns1:cubicBezTo>
                  <ns1:lnTo>
                    <ns1:pt x="1327063" y="51998"/>
                  </ns1:lnTo>
                  <ns1:cubicBezTo>
                    <ns1:pt x="1327063" y="64751"/>
                    <ns1:pt x="1321997" y="76982"/>
                    <ns1:pt x="1312979" y="86000"/>
                  </ns1:cubicBezTo>
                  <ns1:cubicBezTo>
                    <ns1:pt x="1303961" y="95018"/>
                    <ns1:pt x="1291730" y="100084"/>
                    <ns1:pt x="1278976" y="100084"/>
                  </ns1:cubicBezTo>
                  <ns1:lnTo>
                    <ns1:pt x="48087" y="100084"/>
                  </ns1:lnTo>
                  <ns1:cubicBezTo>
                    <ns1:pt x="35333" y="100084"/>
                    <ns1:pt x="23102" y="95018"/>
                    <ns1:pt x="14084" y="86000"/>
                  </ns1:cubicBezTo>
                  <ns1:cubicBezTo>
                    <ns1:pt x="5066" y="76982"/>
                    <ns1:pt x="0" y="64751"/>
                    <ns1:pt x="0" y="51998"/>
                  </ns1:cubicBezTo>
                  <ns1:lnTo>
                    <ns1:pt x="0" y="48087"/>
                  </ns1:lnTo>
                  <ns1:cubicBezTo>
                    <ns1:pt x="0" y="35333"/>
                    <ns1:pt x="5066" y="23102"/>
                    <ns1:pt x="14084" y="14084"/>
                  </ns1:cubicBezTo>
                  <ns1:cubicBezTo>
                    <ns1:pt x="23102" y="5066"/>
                    <ns1:pt x="35333" y="0"/>
                    <ns1:pt x="48087" y="0"/>
                  </ns1:cubicBezTo>
                  <ns1:close/>
                </ns1:path>
              </ns1:pathLst>
            </ns1:custGeom>
            <ns1:solidFill>
              <ns1:srgbClr val="235C8D"/>
            </ns1:solidFill>
          </ns0:spPr>
          <ns0:txBody>
            <ns1:bodyPr/>
            <ns1:lstStyle/>
            <ns1:p>
              <ns1:endParaRPr lang="tr-TR" dirty="0"/>
            </ns1:p>
          </ns0:txBody>
        </ns0:sp>
        <ns0:sp>
          <ns0:nvSpPr>
            <ns0:cNvPr id="54" name="TextBox 54"/>
            <ns0:cNvSpPr txBox="1"/>
            <ns0:nvPr/>
          </ns0:nvSpPr>
          <ns0:spPr>
            <ns1:xfrm>
              <ns1:off x="0" y="-47625"/>
              <ns1:ext cx="1327063" cy="147709"/>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55" name="Group 55"/>
          <ns0:cNvGrpSpPr/>
          <ns0:nvPr/>
        </ns0:nvGrpSpPr>
        <ns0:grpSpPr>
          <ns1:xfrm>
            <ns1:off x="462831" y="17483279"/>
            <ns1:ext cx="878898" cy="878898"/>
            <ns1:chOff x="0" y="0"/>
            <ns1:chExt cx="812800" cy="812800"/>
          </ns1:xfrm>
        </ns0:grpSpPr>
        <ns0:sp>
          <ns0:nvSpPr>
            <ns0:cNvPr id="56" name="Freeform 56"/>
            <ns0:cNvSpPr/>
            <ns0:nvPr/>
          </ns0:nvSpPr>
          <ns0:spPr>
            <ns1:xfrm>
              <ns1:off x="0" y="0"/>
              <ns1:ext cx="812800" cy="812800"/>
            </ns1:xfrm>
            <ns1:custGeom>
              <ns1:avLst/>
              <ns1:gdLst/>
              <ns1:ahLst/>
              <ns1:cxnLst/>
              <ns1:rect l="l" t="t" r="r" b="b"/>
              <ns1:pathLst>
                <ns1:path w="812800" h="812800">
                  <ns1:moveTo>
                    <ns1:pt x="406400" y="0"/>
                  </ns1:moveTo>
                  <ns1:cubicBezTo>
                    <ns1:pt x="181951" y="0"/>
                    <ns1:pt x="0" y="181951"/>
                    <ns1:pt x="0" y="406400"/>
                  </ns1:cubicBezTo>
                  <ns1:cubicBezTo>
                    <ns1:pt x="0" y="630849"/>
                    <ns1:pt x="181951" y="812800"/>
                    <ns1:pt x="406400" y="812800"/>
                  </ns1:cubicBezTo>
                  <ns1:cubicBezTo>
                    <ns1:pt x="630849" y="812800"/>
                    <ns1:pt x="812800" y="630849"/>
                    <ns1:pt x="812800" y="406400"/>
                  </ns1:cubicBezTo>
                  <ns1:cubicBezTo>
                    <ns1:pt x="812800" y="181951"/>
                    <ns1:pt x="630849" y="0"/>
                    <ns1:pt x="406400" y="0"/>
                  </ns1:cubicBezTo>
                  <ns1:close/>
                </ns1:path>
              </ns1:pathLst>
            </ns1:custGeom>
            <ns1:solidFill>
              <ns1:srgbClr val="FFFFFF"/>
            </ns1:solidFill>
            <ns1:ln w="104775" cap="sq">
              <ns1:solidFill>
                <ns1:srgbClr val="235C8D"/>
              </ns1:solidFill>
              <ns1:prstDash val="solid"/>
              <ns1:miter/>
            </ns1:ln>
          </ns0:spPr>
          <ns0:txBody>
            <ns1:bodyPr/>
            <ns1:lstStyle/>
            <ns1:p>
              <ns1:endParaRPr lang="tr-TR" dirty="0"/>
            </ns1:p>
          </ns0:txBody>
        </ns0:sp>
        <ns0:sp>
          <ns0:nvSpPr>
            <ns0:cNvPr id="57" name="TextBox 57"/>
            <ns0:cNvSpPr txBox="1"/>
            <ns0:nvPr/>
          </ns0:nvSpPr>
          <ns0:spPr>
            <ns1:xfrm>
              <ns1:off x="76200" y="28575"/>
              <ns1:ext cx="660400" cy="708025"/>
            </ns1:xfrm>
            <ns1:prstGeom prst="rect">
              <ns1:avLst/>
            </ns1:prstGeom>
          </ns0:spPr>
          <ns0:txBody>
            <ns1:bodyPr lIns="23333" tIns="23333" rIns="23333" bIns="23333" rtlCol="0" anchor="ctr"/>
            <ns1:lstStyle/>
            <ns1:p>
              <ns1:pPr algn="ctr">
                <ns1:lnSpc>
                  <ns1:spcPts val="3986"/>
                </ns1:lnSpc>
              </ns1:pPr>
              <ns1:endParaRPr lang="tr-TR" dirty="0"/>
            </ns1:p>
          </ns0:txBody>
        </ns0:sp>
      </ns0:grpSp>
      <ns0:pic>
        <ns0:nvPicPr>
          <ns0:cNvPr id="58" name="Picture 58"/>
          <ns0:cNvPicPr>
            <ns1:picLocks noChangeAspect="1"/>
          </ns0:cNvPicPr>
          <ns0:nvPr/>
        </ns0:nvPicPr>
        <ns0:blipFill>
          <ns1:blip ns2:embed="rId4"/>
          <ns1:stretch>
            <ns1:fillRect/>
          </ns1:stretch>
        </ns0:blipFill>
        <ns0:spPr>
          <ns1:xfrm>
            <ns1:off x="10012123" y="9753587"/>
            <ns1:ext cx="4864546" cy="5334826"/>
          </ns1:xfrm>
          <ns1:prstGeom prst="rect">
            <ns1:avLst/>
          </ns1:prstGeom>
        </ns0:spPr>
      </ns0:pic>
      <ns0:grpSp>
        <ns0:nvGrpSpPr>
          <ns0:cNvPr id="59" name="Group 59"/>
          <ns0:cNvGrpSpPr/>
          <ns0:nvPr/>
        </ns0:nvGrpSpPr>
        <ns0:grpSpPr>
          <ns1:xfrm>
            <ns1:off x="3873552" y="15248604"/>
            <ns1:ext cx="1122911" cy="1376678"/>
            <ns1:chOff x="0" y="0"/>
            <ns1:chExt cx="166133" cy="203677"/>
          </ns1:xfrm>
        </ns0:grpSpPr>
        <ns0:sp>
          <ns0:nvSpPr>
            <ns0:cNvPr id="60" name="Freeform 60"/>
            <ns0:cNvSpPr/>
            <ns0:nvPr/>
          </ns0:nvSpPr>
          <ns0:spPr>
            <ns1:xfrm>
              <ns1:off x="0" y="0"/>
              <ns1:ext cx="166133" cy="203677"/>
            </ns1:xfrm>
            <ns1:custGeom>
              <ns1:avLst/>
              <ns1:gdLst/>
              <ns1:ahLst/>
              <ns1:cxnLst/>
              <ns1:rect l="l" t="t" r="r" b="b"/>
              <ns1:pathLst>
                <ns1:path w="166133" h="203677">
                  <ns1:moveTo>
                    <ns1:pt x="0" y="0"/>
                  </ns1:moveTo>
                  <ns1:lnTo>
                    <ns1:pt x="166133" y="0"/>
                  </ns1:lnTo>
                  <ns1:lnTo>
                    <ns1:pt x="166133" y="203677"/>
                  </ns1:lnTo>
                  <ns1:lnTo>
                    <ns1:pt x="0" y="203677"/>
                  </ns1:lnTo>
                  <ns1:close/>
                </ns1:path>
              </ns1:pathLst>
            </ns1:custGeom>
            <ns1:blipFill>
              <ns1:blip ns2:embed="rId5"/>
              <ns1:stretch>
                <ns1:fillRect l="-89714" r="-89714"/>
              </ns1:stretch>
            </ns1:blipFill>
          </ns0:spPr>
          <ns0:txBody>
            <ns1:bodyPr/>
            <ns1:lstStyle/>
            <ns1:p>
              <ns1:endParaRPr lang="tr-TR" dirty="0"/>
            </ns1:p>
          </ns0:txBody>
        </ns0:sp>
      </ns0:grpSp>
      <ns0:grpSp>
        <ns0:nvGrpSpPr>
          <ns0:cNvPr id="61" name="Group 61"/>
          <ns0:cNvGrpSpPr/>
          <ns0:nvPr/>
        </ns0:nvGrpSpPr>
        <ns0:grpSpPr>
          <ns1:xfrm>
            <ns1:off x="5227087" y="15248273"/>
            <ns1:ext cx="1122911" cy="1376678"/>
            <ns1:chOff x="0" y="0"/>
            <ns1:chExt cx="166133" cy="203677"/>
          </ns1:xfrm>
        </ns0:grpSpPr>
        <ns0:sp>
          <ns0:nvSpPr>
            <ns0:cNvPr id="62" name="Freeform 62"/>
            <ns0:cNvSpPr/>
            <ns0:nvPr/>
          </ns0:nvSpPr>
          <ns0:spPr>
            <ns1:xfrm>
              <ns1:off x="0" y="0"/>
              <ns1:ext cx="166133" cy="203677"/>
            </ns1:xfrm>
            <ns1:custGeom>
              <ns1:avLst/>
              <ns1:gdLst/>
              <ns1:ahLst/>
              <ns1:cxnLst/>
              <ns1:rect l="l" t="t" r="r" b="b"/>
              <ns1:pathLst>
                <ns1:path w="166133" h="203677">
                  <ns1:moveTo>
                    <ns1:pt x="0" y="0"/>
                  </ns1:moveTo>
                  <ns1:lnTo>
                    <ns1:pt x="166133" y="0"/>
                  </ns1:lnTo>
                  <ns1:lnTo>
                    <ns1:pt x="166133" y="203677"/>
                  </ns1:lnTo>
                  <ns1:lnTo>
                    <ns1:pt x="0" y="203677"/>
                  </ns1:lnTo>
                  <ns1:close/>
                </ns1:path>
              </ns1:pathLst>
            </ns1:custGeom>
            <ns1:blipFill>
              <ns1:blip ns2:embed="rId6"/>
              <ns1:stretch>
                <ns1:fillRect t="-11213" b="-11213"/>
              </ns1:stretch>
            </ns1:blipFill>
          </ns0:spPr>
          <ns0:txBody>
            <ns1:bodyPr/>
            <ns1:lstStyle/>
            <ns1:p>
              <ns1:endParaRPr lang="tr-TR" dirty="0"/>
            </ns1:p>
          </ns0:txBody>
        </ns0:sp>
      </ns0:grpSp>
      <ns0:grpSp>
        <ns0:nvGrpSpPr>
          <ns0:cNvPr id="63" name="Group 63"/>
          <ns0:cNvGrpSpPr/>
          <ns0:nvPr/>
        </ns0:nvGrpSpPr>
        <ns0:grpSpPr>
          <ns1:xfrm>
            <ns1:off x="8667012" y="17557654"/>
            <ns1:ext cx="6093020" cy="3661478"/>
            <ns1:chOff x="0" y="0"/>
            <ns1:chExt cx="1522599" cy="914975"/>
          </ns1:xfrm>
        </ns0:grpSpPr>
        <ns0:sp>
          <ns0:nvSpPr>
            <ns0:cNvPr id="64" name="Freeform 64"/>
            <ns0:cNvSpPr/>
            <ns0:nvPr/>
          </ns0:nvSpPr>
          <ns0:spPr>
            <ns1:xfrm>
              <ns1:off x="0" y="0"/>
              <ns1:ext cx="1522599" cy="914975"/>
            </ns1:xfrm>
            <ns1:custGeom>
              <ns1:avLst/>
              <ns1:gdLst/>
              <ns1:ahLst/>
              <ns1:cxnLst/>
              <ns1:rect l="l" t="t" r="r" b="b"/>
              <ns1:pathLst>
                <ns1:path w="1522599" h="914975">
                  <ns1:moveTo>
                    <ns1:pt x="24142" y="0"/>
                  </ns1:moveTo>
                  <ns1:lnTo>
                    <ns1:pt x="1498457" y="0"/>
                  </ns1:lnTo>
                  <ns1:cubicBezTo>
                    <ns1:pt x="1504860" y="0"/>
                    <ns1:pt x="1511000" y="2544"/>
                    <ns1:pt x="1515528" y="7071"/>
                  </ns1:cubicBezTo>
                  <ns1:cubicBezTo>
                    <ns1:pt x="1520055" y="11598"/>
                    <ns1:pt x="1522599" y="17739"/>
                    <ns1:pt x="1522599" y="24142"/>
                  </ns1:cubicBezTo>
                  <ns1:lnTo>
                    <ns1:pt x="1522599" y="890833"/>
                  </ns1:lnTo>
                  <ns1:cubicBezTo>
                    <ns1:pt x="1522599" y="897236"/>
                    <ns1:pt x="1520055" y="903377"/>
                    <ns1:pt x="1515528" y="907904"/>
                  </ns1:cubicBezTo>
                  <ns1:cubicBezTo>
                    <ns1:pt x="1511000" y="912432"/>
                    <ns1:pt x="1504860" y="914975"/>
                    <ns1:pt x="1498457" y="914975"/>
                  </ns1:cubicBezTo>
                  <ns1:lnTo>
                    <ns1:pt x="24142" y="914975"/>
                  </ns1:lnTo>
                  <ns1:cubicBezTo>
                    <ns1:pt x="17739" y="914975"/>
                    <ns1:pt x="11598" y="912432"/>
                    <ns1:pt x="7071" y="907904"/>
                  </ns1:cubicBezTo>
                  <ns1:cubicBezTo>
                    <ns1:pt x="2544" y="903377"/>
                    <ns1:pt x="0" y="897236"/>
                    <ns1:pt x="0" y="890833"/>
                  </ns1:cubicBezTo>
                  <ns1:lnTo>
                    <ns1:pt x="0" y="24142"/>
                  </ns1:lnTo>
                  <ns1:cubicBezTo>
                    <ns1:pt x="0" y="17739"/>
                    <ns1:pt x="2544" y="11598"/>
                    <ns1:pt x="7071" y="7071"/>
                  </ns1:cubicBezTo>
                  <ns1:cubicBezTo>
                    <ns1:pt x="11598" y="2544"/>
                    <ns1:pt x="17739" y="0"/>
                    <ns1:pt x="24142" y="0"/>
                  </ns1:cubicBezTo>
                  <ns1:close/>
                </ns1:path>
              </ns1:pathLst>
            </ns1:custGeom>
            <ns1:solidFill>
              <ns1:srgbClr val="FFFFFF"/>
            </ns1:solidFill>
            <ns1:ln w="19050" cap="sq">
              <ns1:solidFill>
                <ns1:srgbClr val="235C8D"/>
              </ns1:solidFill>
              <ns1:prstDash val="solid"/>
              <ns1:miter/>
            </ns1:ln>
          </ns0:spPr>
          <ns0:txBody>
            <ns1:bodyPr/>
            <ns1:lstStyle/>
            <ns1:p>
              <ns1:endParaRPr lang="tr-TR" dirty="0"/>
            </ns1:p>
          </ns0:txBody>
        </ns0:sp>
        <ns0:sp>
          <ns0:nvSpPr>
            <ns0:cNvPr id="65" name="TextBox 65"/>
            <ns0:cNvSpPr txBox="1"/>
            <ns0:nvPr/>
          </ns0:nvSpPr>
          <ns0:spPr>
            <ns1:xfrm>
              <ns1:off x="0" y="-47625"/>
              <ns1:ext cx="1522599" cy="962600"/>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66" name="Group 66"/>
          <ns0:cNvGrpSpPr/>
          <ns0:nvPr/>
        </ns0:nvGrpSpPr>
        <ns0:grpSpPr>
          <ns1:xfrm>
            <ns1:off x="988828" y="4325053"/>
            <ns1:ext cx="5026017" cy="558542"/>
            <ns1:chOff x="0" y="0"/>
            <ns1:chExt cx="900606" cy="100084"/>
          </ns1:xfrm>
        </ns0:grpSpPr>
        <ns0:sp>
          <ns0:nvSpPr>
            <ns0:cNvPr id="67" name="Freeform 67"/>
            <ns0:cNvSpPr/>
            <ns0:nvPr/>
          </ns0:nvSpPr>
          <ns0:spPr>
            <ns1:xfrm>
              <ns1:off x="0" y="0"/>
              <ns1:ext cx="900606" cy="100084"/>
            </ns1:xfrm>
            <ns1:custGeom>
              <ns1:avLst/>
              <ns1:gdLst/>
              <ns1:ahLst/>
              <ns1:cxnLst/>
              <ns1:rect l="l" t="t" r="r" b="b"/>
              <ns1:pathLst>
                <ns1:path w="900606" h="100084">
                  <ns1:moveTo>
                    <ns1:pt x="50042" y="0"/>
                  </ns1:moveTo>
                  <ns1:lnTo>
                    <ns1:pt x="850563" y="0"/>
                  </ns1:lnTo>
                  <ns1:cubicBezTo>
                    <ns1:pt x="878201" y="0"/>
                    <ns1:pt x="900606" y="22405"/>
                    <ns1:pt x="900606" y="50042"/>
                  </ns1:cubicBezTo>
                  <ns1:lnTo>
                    <ns1:pt x="900606" y="50042"/>
                  </ns1:lnTo>
                  <ns1:cubicBezTo>
                    <ns1:pt x="900606" y="77680"/>
                    <ns1:pt x="878201" y="100084"/>
                    <ns1:pt x="850563" y="100084"/>
                  </ns1:cubicBezTo>
                  <ns1:lnTo>
                    <ns1:pt x="50042" y="100084"/>
                  </ns1:lnTo>
                  <ns1:cubicBezTo>
                    <ns1:pt x="22405" y="100084"/>
                    <ns1:pt x="0" y="77680"/>
                    <ns1:pt x="0" y="50042"/>
                  </ns1:cubicBezTo>
                  <ns1:lnTo>
                    <ns1:pt x="0" y="50042"/>
                  </ns1:lnTo>
                  <ns1:cubicBezTo>
                    <ns1:pt x="0" y="22405"/>
                    <ns1:pt x="22405" y="0"/>
                    <ns1:pt x="50042" y="0"/>
                  </ns1:cubicBezTo>
                  <ns1:close/>
                </ns1:path>
              </ns1:pathLst>
            </ns1:custGeom>
            <ns1:solidFill>
              <ns1:srgbClr val="235C8D"/>
            </ns1:solidFill>
          </ns0:spPr>
          <ns0:txBody>
            <ns1:bodyPr/>
            <ns1:lstStyle/>
            <ns1:p>
              <ns1:endParaRPr lang="tr-TR" dirty="0"/>
            </ns1:p>
          </ns0:txBody>
        </ns0:sp>
        <ns0:sp>
          <ns0:nvSpPr>
            <ns0:cNvPr id="68" name="TextBox 68"/>
            <ns0:cNvSpPr txBox="1"/>
            <ns0:nvPr/>
          </ns0:nvSpPr>
          <ns0:spPr>
            <ns1:xfrm>
              <ns1:off x="0" y="-47625"/>
              <ns1:ext cx="900606" cy="147709"/>
            </ns1:xfrm>
            <ns1:prstGeom prst="rect">
              <ns1:avLst/>
            </ns1:prstGeom>
          </ns0:spPr>
          <ns0:txBody>
            <ns1:bodyPr lIns="23333" tIns="23333" rIns="23333" bIns="23333" rtlCol="0" anchor="ctr"/>
            <ns1:lstStyle/>
            <ns1:p>
              <ns1:pPr algn="ctr">
                <ns1:lnSpc>
                  <ns1:spcPts val="3986"/>
                </ns1:lnSpc>
                <ns1:spcBef>
                  <ns1:spcPct val="0"/>
                </ns1:spcBef>
              </ns1:pPr>
              <ns1:endParaRPr lang="tr-TR" dirty="0"/>
            </ns1:p>
          </ns0:txBody>
        </ns0:sp>
      </ns0:grpSp>
      <ns0:grpSp>
        <ns0:nvGrpSpPr>
          <ns0:cNvPr id="69" name="Group 69"/>
          <ns0:cNvGrpSpPr/>
          <ns0:nvPr/>
        </ns0:nvGrpSpPr>
        <ns0:grpSpPr>
          <ns1:xfrm>
            <ns1:off x="734102" y="4200206"/>
            <ns1:ext cx="878898" cy="878898"/>
            <ns1:chOff x="0" y="0"/>
            <ns1:chExt cx="812800" cy="812800"/>
          </ns1:xfrm>
        </ns0:grpSpPr>
        <ns0:sp>
          <ns0:nvSpPr>
            <ns0:cNvPr id="70" name="Freeform 70"/>
            <ns0:cNvSpPr/>
            <ns0:nvPr/>
          </ns0:nvSpPr>
          <ns0:spPr>
            <ns1:xfrm>
              <ns1:off x="0" y="0"/>
              <ns1:ext cx="812800" cy="812800"/>
            </ns1:xfrm>
            <ns1:custGeom>
              <ns1:avLst/>
              <ns1:gdLst/>
              <ns1:ahLst/>
              <ns1:cxnLst/>
              <ns1:rect l="l" t="t" r="r" b="b"/>
              <ns1:pathLst>
                <ns1:path w="812800" h="812800">
                  <ns1:moveTo>
                    <ns1:pt x="406400" y="0"/>
                  </ns1:moveTo>
                  <ns1:cubicBezTo>
                    <ns1:pt x="181951" y="0"/>
                    <ns1:pt x="0" y="181951"/>
                    <ns1:pt x="0" y="406400"/>
                  </ns1:cubicBezTo>
                  <ns1:cubicBezTo>
                    <ns1:pt x="0" y="630849"/>
                    <ns1:pt x="181951" y="812800"/>
                    <ns1:pt x="406400" y="812800"/>
                  </ns1:cubicBezTo>
                  <ns1:cubicBezTo>
                    <ns1:pt x="630849" y="812800"/>
                    <ns1:pt x="812800" y="630849"/>
                    <ns1:pt x="812800" y="406400"/>
                  </ns1:cubicBezTo>
                  <ns1:cubicBezTo>
                    <ns1:pt x="812800" y="181951"/>
                    <ns1:pt x="630849" y="0"/>
                    <ns1:pt x="406400" y="0"/>
                  </ns1:cubicBezTo>
                  <ns1:close/>
                </ns1:path>
              </ns1:pathLst>
            </ns1:custGeom>
            <ns1:solidFill>
              <ns1:srgbClr val="FFFFFF"/>
            </ns1:solidFill>
            <ns1:ln w="104775" cap="sq">
              <ns1:solidFill>
                <ns1:srgbClr val="235C8D"/>
              </ns1:solidFill>
              <ns1:prstDash val="solid"/>
              <ns1:miter/>
            </ns1:ln>
          </ns0:spPr>
          <ns0:txBody>
            <ns1:bodyPr/>
            <ns1:lstStyle/>
            <ns1:p>
              <ns1:endParaRPr lang="tr-TR" dirty="0"/>
            </ns1:p>
          </ns0:txBody>
        </ns0:sp>
        <ns0:sp>
          <ns0:nvSpPr>
            <ns0:cNvPr id="71" name="TextBox 71"/>
            <ns0:cNvSpPr txBox="1"/>
            <ns0:nvPr/>
          </ns0:nvSpPr>
          <ns0:spPr>
            <ns1:xfrm>
              <ns1:off x="76200" y="28575"/>
              <ns1:ext cx="660400" cy="708025"/>
            </ns1:xfrm>
            <ns1:prstGeom prst="rect">
              <ns1:avLst/>
            </ns1:prstGeom>
          </ns0:spPr>
          <ns0:txBody>
            <ns1:bodyPr lIns="23333" tIns="23333" rIns="23333" bIns="23333" rtlCol="0" anchor="ctr"/>
            <ns1:lstStyle/>
            <ns1:p>
              <ns1:pPr algn="ctr">
                <ns1:lnSpc>
                  <ns1:spcPts val="3986"/>
                </ns1:lnSpc>
              </ns1:pPr>
              <ns1:endParaRPr lang="tr-TR" dirty="0"/>
            </ns1:p>
          </ns0:txBody>
        </ns0:sp>
      </ns0:grpSp>
      <ns0:sp>
        <ns0:nvSpPr>
          <ns0:cNvPr id="72" name="Freeform 72"/>
          <ns0:cNvSpPr/>
          <ns0:nvPr/>
        </ns0:nvSpPr>
        <ns0:spPr>
          <ns1:xfrm>
            <ns1:off x="183468" y="-145760"/>
            <ns1:ext cx="2496232" cy="3032447"/>
          </ns1:xfrm>
          <ns1:custGeom>
            <ns1:avLst/>
            <ns1:gdLst/>
            <ns1:ahLst/>
            <ns1:cxnLst/>
            <ns1:rect l="l" t="t" r="r" b="b"/>
            <ns1:pathLst>
              <ns1:path w="2496232" h="3032447">
                <ns1:moveTo>
                  <ns1:pt x="0" y="0"/>
                </ns1:moveTo>
                <ns1:lnTo>
                  <ns1:pt x="2496232" y="0"/>
                </ns1:lnTo>
                <ns1:lnTo>
                  <ns1:pt x="2496232" y="3032447"/>
                </ns1:lnTo>
                <ns1:lnTo>
                  <ns1:pt x="0" y="3032447"/>
                </ns1:lnTo>
                <ns1:lnTo>
                  <ns1:pt x="0" y="0"/>
                </ns1:lnTo>
                <ns1:close/>
              </ns1:path>
            </ns1:pathLst>
          </ns1:custGeom>
          <ns1:blipFill>
            <ns1:blip ns2:embed="rId7"/>
            <ns1:stretch>
              <ns1:fillRect t="-155" r="-261136" b="-155"/>
            </ns1:stretch>
          </ns1:blipFill>
        </ns0:spPr>
        <ns0:txBody>
          <ns1:bodyPr/>
          <ns1:lstStyle/>
          <ns1:p>
            <ns1:endParaRPr lang="tr-TR" dirty="0"/>
          </ns1:p>
        </ns0:txBody>
      </ns0:sp>
      <ns0:sp>
        <ns0:nvSpPr>
          <ns0:cNvPr id="73" name="TextBox 73"/>
          <ns0:cNvSpPr txBox="1"/>
          <ns0:nvPr/>
        </ns0:nvSpPr>
        <ns0:spPr>
          <ns1:xfrm>
            <ns1:off x="1853370" y="1918312"/>
            <ns1:ext cx="11047620" cy="987450"/>
          </ns1:xfrm>
          <ns1:prstGeom prst="rect">
            <ns1:avLst/>
          </ns1:prstGeom>
        </ns0:spPr>
        <ns0:txBody>
          <ns1:bodyPr lIns="0" tIns="0" rIns="0" bIns="0" rtlCol="0" anchor="t">
            <ns1:spAutoFit/>
          </ns1:bodyPr>
          <ns1:lstStyle/>
          <ns1:p>
            <ns1:pPr algn="ctr">
              <ns1:lnSpc>
                <ns1:spcPts val="7699"/>
              </ns1:lnSpc>
            </ns1:pPr>
            <ns1:r>
              <ns1:rPr lang="tr-TR" sz="5499" b="1" dirty="0">
                <ns1:solidFill>
                  <ns1:srgbClr val="235C8D"/>
                </ns1:solidFill>
                <ns1:latin typeface="Arial Bold"/>
                <ns1:ea typeface="Arial Bold"/>
                <ns1:cs typeface="Arial Bold"/>
                <ns1:sym typeface="Arial Bold"/>
              </ns1:rPr>
              <ns1:t>MCP City Agent</ns1:t>
            </ns1:r>
          </ns1:p>
        </ns0:txBody>
      </ns0:sp>
      <ns0:sp>
        <ns0:nvSpPr>
          <ns0:cNvPr id="74" name="TextBox 74"/>
          <ns0:cNvSpPr txBox="1"/>
          <ns0:nvPr/>
        </ns0:nvSpPr>
        <ns0:spPr>
          <ns1:xfrm>
            <ns1:off x="1254411" y="6689360"/>
            <ns1:ext cx="4401845" cy="628377"/>
          </ns1:xfrm>
          <ns1:prstGeom prst="rect">
            <ns1:avLst/>
          </ns1:prstGeom>
        </ns0:spPr>
        <ns0:txBody>
          <ns1:bodyPr lIns="0" tIns="0" rIns="0" bIns="0" rtlCol="0" anchor="t">
            <ns1:spAutoFit/>
          </ns1:bodyPr>
          <ns1:lstStyle/>
          <ns1:p>
            <ns1:pPr algn="ctr">
              <ns1:lnSpc>
                <ns1:spcPts val="4900"/>
              </ns1:lnSpc>
            </ns1:pPr>
            <ns1:r>
              <ns1:rPr lang="tr-TR" sz="3500" b="1" dirty="0">
                <ns1:solidFill>
                  <ns1:srgbClr val="FFFFFF"/>
                </ns1:solidFill>
                <ns1:latin typeface="Arial Bold"/>
                <ns1:ea typeface="Arial Bold"/>
                <ns1:cs typeface="Arial Bold"/>
                <ns1:sym typeface="Arial Bold"/>
              </ns1:rPr>
              <ns1:t>Giriş</ns1:t>
            </ns1:r>
          </ns1:p>
        </ns0:txBody>
      </ns0:sp>
      <ns0:sp>
        <ns0:nvSpPr>
          <ns0:cNvPr id="75" name="TextBox 75"/>
          <ns0:cNvSpPr txBox="1"/>
          <ns0:nvPr/>
        </ns0:nvSpPr>
        <ns0:spPr>
          <ns1:xfrm>
            <ns1:off x="7287445" y="4165645"/>
            <ns1:ext cx="6977950" cy="628377"/>
          </ns1:xfrm>
          <ns1:prstGeom prst="rect">
            <ns1:avLst/>
          </ns1:prstGeom>
        </ns0:spPr>
        <ns0:txBody>
          <ns1:bodyPr lIns="0" tIns="0" rIns="0" bIns="0" rtlCol="0" anchor="t">
            <ns1:spAutoFit/>
          </ns1:bodyPr>
          <ns1:lstStyle/>
          <ns1:p>
            <ns1:pPr algn="ctr">
              <ns1:lnSpc>
                <ns1:spcPts val="4900"/>
              </ns1:lnSpc>
            </ns1:pPr>
            <ns1:r>
              <ns1:rPr lang="tr-TR" sz="3500" b="1" dirty="0">
                <ns1:solidFill>
                  <ns1:srgbClr val="FFFFFF"/>
                </ns1:solidFill>
                <ns1:latin typeface="Arial Bold"/>
                <ns1:ea typeface="Arial Bold"/>
                <ns1:cs typeface="Arial Bold"/>
                <ns1:sym typeface="Arial Bold"/>
              </ns1:rPr>
              <ns1:t>Materyal ve Yöntem</ns1:t>
            </ns1:r>
          </ns1:p>
        </ns0:txBody>
      </ns0:sp>
      <ns0:sp>
        <ns0:nvSpPr>
          <ns0:cNvPr id="76" name="TextBox 76"/>
          <ns0:cNvSpPr txBox="1"/>
          <ns0:nvPr/>
        </ns0:nvSpPr>
        <ns0:spPr>
          <ns1:xfrm>
            <ns1:off x="972282" y="7659350"/>
            <ns1:ext cx="5151211" cy="1795363"/>
          </ns1:xfrm>
          <ns1:prstGeom prst="rect">
            <ns1:avLst/>
          </ns1:prstGeom>
        </ns0:spPr>
        <ns0:txBody>
          <ns1:bodyPr lIns="0" tIns="0" rIns="0" bIns="0" rtlCol="0" anchor="t">
            <ns1:spAutoFit/>
          </ns1:bodyPr>
          <ns1:lstStyle/>
          <ns1:p>
            <ns1:pPr algn="just">
              <ns1:lnSpc>
                <ns1:spcPts val="2800"/>
              </ns1:lnSpc>
            </ns1:pPr>
            <ns1:r>
              <ns1:rPr lang="tr-TR" sz="2000" dirty="0">
                <ns1:solidFill>
                  <ns1:srgbClr val="000000"/>
                </ns1:solidFill>
                <ns1:latin typeface="Arial"/>
                <ns1:ea typeface="Arial"/>
                <ns1:cs typeface="Arial"/>
                <ns1:sym typeface="Arial"/>
              </ns1:rPr>
              <ns1:t>İBB Açık Veri portalında yüzlerce veri seti bulunur. Bu çalışma, doğru veri setini bulmayı ve uygun erişim yolunu seçmeyi kolaylaştıran bir şehir ajanı geliştirmektedir.</ns1:t>
            </ns1:r>
          </ns1:p>
          <ns1:p>
            <ns1:pPr algn="just">
              <ns1:lnSpc>
                <ns1:spcPts val="2800"/>
              </ns1:lnSpc>
            </ns1:pPr>
            <ns1:endParaRPr lang="tr-TR" sz="2000" dirty="0">
              <ns1:solidFill>
                <ns1:srgbClr val="000000"/>
              </ns1:solidFill>
              <ns1:latin typeface="Arial"/>
              <ns1:ea typeface="Arial"/>
              <ns1:cs typeface="Arial"/>
              <ns1:sym typeface="Arial"/>
            </ns1:endParaRPr>
          </ns1:p>
          <ns1:p>
            <ns1:pPr algn="just">
              <ns1:lnSpc>
                <ns1:spcPts val="2800"/>
              </ns1:lnSpc>
            </ns1:pPr>
            <ns1:endParaRPr lang="tr-TR" sz="2000" dirty="0">
              <ns1:solidFill>
                <ns1:srgbClr val="000000"/>
              </ns1:solidFill>
              <ns1:latin typeface="Arial"/>
              <ns1:ea typeface="Arial"/>
              <ns1:cs typeface="Arial"/>
              <ns1:sym typeface="Arial"/>
            </ns1:endParaRPr>
          </ns1:p>
        </ns0:txBody>
      </ns0:sp>
      <ns0:sp>
        <ns0:nvSpPr>
          <ns0:cNvPr id="77" name="TextBox 77"/>
          <ns0:cNvSpPr txBox="1"/>
          <ns0:nvPr/>
        </ns0:nvSpPr>
        <ns0:spPr>
          <ns1:xfrm>
            <ns1:off x="6926040" y="5051182"/>
            <ns1:ext cx="7655999" cy="1444625"/>
          </ns1:xfrm>
          <ns1:prstGeom prst="rect">
            <ns1:avLst/>
          </ns1:prstGeom>
        </ns0:spPr>
        <ns0:txBody>
          <ns1:bodyPr lIns="0" tIns="0" rIns="0" bIns="0" rtlCol="0" anchor="t">
            <ns1:spAutoFit/>
          </ns1:bodyPr>
          <ns1:lstStyle/>
          <ns1:p>
            <ns1:pPr algn="just">
              <ns1:lnSpc>
                <ns1:spcPts val="2800"/>
              </ns1:lnSpc>
            </ns1:pPr>
            <ns1:r>
              <ns1:rPr lang="tr-TR" sz="2000" dirty="0">
                <ns1:solidFill>
                  <ns1:srgbClr val="000000"/>
                </ns1:solidFill>
                <ns1:latin typeface="Arial"/>
                <ns1:ea typeface="Arial"/>
                <ns1:cs typeface="Arial"/>
                <ns1:sym typeface="Arial"/>
              </ns1:rPr>
              <ns1:t>Sistem Node.js/TypeScript ile geliştirildi. Mimari; CKAN katalog erişimi, capability analizi, veri önizleme, profiling ve LLM destekli yorumlama katmanlarından oluşur.</ns1:t>
            </ns1:r>
          </ns1:p>
        </ns0:txBody>
      </ns0:sp>
      <ns0:sp>
        <ns0:nvSpPr>
          <ns0:cNvPr id="78" name="TextBox 78"/>
          <ns0:cNvSpPr txBox="1"/>
          <ns0:nvPr/>
        </ns0:nvSpPr>
        <ns0:spPr>
          <ns1:xfrm>
            <ns1:off x="307952" y="3024304"/>
            <ns1:ext cx="2100646" cy="500137"/>
          </ns1:xfrm>
          <ns1:prstGeom prst="rect">
            <ns1:avLst/>
          </ns1:prstGeom>
        </ns0:spPr>
        <ns0:txBody>
          <ns1:bodyPr lIns="0" tIns="0" rIns="0" bIns="0" rtlCol="0" anchor="t">
            <ns1:spAutoFit/>
          </ns1:bodyPr>
          <ns1:lstStyle/>
          <ns1:p>
            <ns1:pPr algn="l">
              <ns1:lnSpc>
                <ns1:spcPts val="3858"/>
              </ns1:lnSpc>
            </ns1:pPr>
            <ns1:r>
              <ns1:rPr lang="tr-TR" sz="2755" dirty="0">
                <ns1:solidFill>
                  <ns1:srgbClr val="FFFFFF"/>
                </ns1:solidFill>
                <ns1:latin typeface="Times New Roman"/>
                <ns1:ea typeface="Times New Roman"/>
                <ns1:cs typeface="Times New Roman"/>
                <ns1:sym typeface="Times New Roman"/>
              </ns1:rPr>
              <ns1:t>Yazarlar</ns1:t>
            </ns1:r>
          </ns1:p>
        </ns0:txBody>
      </ns0:sp>
      <ns0:sp>
        <ns0:nvSpPr>
          <ns0:cNvPr id="79" name="TextBox 79"/>
          <ns0:cNvSpPr txBox="1"/>
          <ns0:nvPr/>
        </ns0:nvSpPr>
        <ns0:spPr>
          <ns1:xfrm>
            <ns1:off x="2057673" y="3149350"/>
            <ns1:ext cx="13031196" cy="371897"/>
          </ns1:xfrm>
          <ns1:prstGeom prst="rect">
            <ns1:avLst/>
          </ns1:prstGeom>
        </ns0:spPr>
        <ns0:txBody>
          <ns1:bodyPr lIns="0" tIns="0" rIns="0" bIns="0" rtlCol="0" anchor="t">
            <ns1:spAutoFit/>
          </ns1:bodyPr>
          <ns1:lstStyle/>
          <ns1:p>
            <ns1:pPr algn="l">
              <ns1:lnSpc>
                <ns1:spcPts val="2942"/>
              </ns1:lnSpc>
            </ns1:pPr>
            <ns1:r>
              <ns1:rPr lang="tr-TR" sz="2102" dirty="0">
                <ns1:solidFill>
                  <ns1:srgbClr val="FFFFFF"/>
                </ns1:solidFill>
                <ns1:latin typeface="Red Hat Display"/>
                <ns1:ea typeface="Red Hat Display"/>
                <ns1:cs typeface="Red Hat Display"/>
                <ns1:sym typeface="Red Hat Display"/>
              </ns1:rPr>
              <ns1:t>Taha</ns1:t>
            </ns1:r>
          </ns1:p>
        </ns0:txBody>
      </ns0:sp>
      <ns0:sp>
        <ns0:nvSpPr>
          <ns0:cNvPr id="80" name="TextBox 80"/>
          <ns0:cNvSpPr txBox="1"/>
          <ns0:nvPr/>
        </ns0:nvSpPr>
        <ns0:spPr>
          <ns1:xfrm>
            <ns1:off x="6900447" y="6604415"/>
            <ns1:ext cx="7736715" cy="718145"/>
          </ns1:xfrm>
          <ns1:prstGeom prst="rect">
            <ns1:avLst/>
          </ns1:prstGeom>
        </ns0:spPr>
        <ns0:txBody>
          <ns1:bodyPr lIns="0" tIns="0" rIns="0" bIns="0" rtlCol="0" anchor="t">
            <ns1:spAutoFit/>
          </ns1:bodyPr>
          <ns1:lstStyle/>
          <ns1:p>
            <ns1:pPr algn="just">
              <ns1:lnSpc>
                <ns1:spcPts val="2800"/>
              </ns1:lnSpc>
            </ns1:pPr>
            <ns1:r>
              <ns1:rPr lang="tr-TR" sz="2000" b="1" dirty="0">
                <ns1:solidFill>
                  <ns1:srgbClr val="000000"/>
                </ns1:solidFill>
                <ns1:latin typeface="Arial Bold"/>
                <ns1:ea typeface="Arial Bold"/>
                <ns1:cs typeface="Arial Bold"/>
                <ns1:sym typeface="Arial Bold"/>
              </ns1:rPr>
              <ns1:t>Şekil 1. </ns1:t>
            </ns1:r>
            <ns1:r>
              <ns1:rPr lang="tr-TR" sz="2000" dirty="0">
                <ns1:solidFill>
                  <ns1:srgbClr val="000000"/>
                </ns1:solidFill>
                <ns1:latin typeface="Arial"/>
                <ns1:ea typeface="Arial"/>
                <ns1:cs typeface="Arial"/>
                <ns1:sym typeface="Arial"/>
              </ns1:rPr>
              <ns1:t>İş akışı</ns1:t>
            </ns1:r>
            <ns1:r>
              <ns1:rPr lang="tr-TR" sz="2000" dirty="0" err="1">
                <ns1:solidFill>
                  <ns1:srgbClr val="000000"/>
                </ns1:solidFill>
                <ns1:latin typeface="Arial"/>
                <ns1:ea typeface="Arial"/>
                <ns1:cs typeface="Arial"/>
                <ns1:sym typeface="Arial"/>
              </ns1:rPr>
              <ns1:t>Soru -&gt; dataset seçimi -&gt; capability -&gt; preview</ns1:t>
            </ns1:r>
            <ns1:r>
              <ns1:rPr lang="tr-TR" sz="2000" dirty="0">
                <ns1:solidFill>
                  <ns1:srgbClr val="000000"/>
                </ns1:solidFill>
                <ns1:latin typeface="Arial"/>
                <ns1:ea typeface="Arial"/>
                <ns1:cs typeface="Arial"/>
                <ns1:sym typeface="Arial"/>
              </ns1:rPr>
              <ns1:t>-&gt; analiz -&gt; kullanıcı çıktısı</ns1:t>
            </ns1:r>
          </ns1:p>
        </ns0:txBody>
      </ns0:sp>
      <ns0:sp>
        <ns0:nvSpPr>
          <ns0:cNvPr id="81" name="TextBox 81"/>
          <ns0:cNvSpPr txBox="1"/>
          <ns0:nvPr/>
        </ns0:nvSpPr>
        <ns0:spPr>
          <ns1:xfrm>
            <ns1:off x="1487420" y="9538656"/>
            <ns1:ext cx="12627472" cy="628377"/>
          </ns1:xfrm>
          <ns1:prstGeom prst="rect">
            <ns1:avLst/>
          </ns1:prstGeom>
        </ns0:spPr>
        <ns0:txBody>
          <ns1:bodyPr lIns="0" tIns="0" rIns="0" bIns="0" rtlCol="0" anchor="t">
            <ns1:spAutoFit/>
          </ns1:bodyPr>
          <ns1:lstStyle/>
          <ns1:p>
            <ns1:pPr algn="ctr">
              <ns1:lnSpc>
                <ns1:spcPts val="4900"/>
              </ns1:lnSpc>
            </ns1:pPr>
            <ns1:r>
              <ns1:rPr lang="tr-TR" sz="3500" b="1" dirty="0">
                <ns1:solidFill>
                  <ns1:srgbClr val="FFFFFF"/>
                </ns1:solidFill>
                <ns1:latin typeface="Arial Bold"/>
                <ns1:ea typeface="Arial Bold"/>
                <ns1:cs typeface="Arial Bold"/>
                <ns1:sym typeface="Arial Bold"/>
              </ns1:rPr>
              <ns1:t>Bulgular ve Tartışma</ns1:t>
            </ns1:r>
          </ns1:p>
        </ns0:txBody>
      </ns0:sp>
      <ns0:sp>
        <ns0:nvSpPr>
          <ns0:cNvPr id="82" name="TextBox 82"/>
          <ns0:cNvSpPr txBox="1"/>
          <ns0:nvPr/>
        </ns0:nvSpPr>
        <ns0:spPr>
          <ns1:xfrm>
            <ns1:off x="918826" y="10737868"/>
            <ns1:ext cx="9068055" cy="1436291"/>
          </ns1:xfrm>
          <ns1:prstGeom prst="rect">
            <ns1:avLst/>
          </ns1:prstGeom>
        </ns0:spPr>
        <ns0:txBody>
          <ns1:bodyPr lIns="0" tIns="0" rIns="0" bIns="0" rtlCol="0" anchor="t">
            <ns1:spAutoFit/>
          </ns1:bodyPr>
          <ns1:lstStyle/>
          <ns1:p>
            <ns1:pPr algn="just">
              <ns1:lnSpc>
                <ns1:spcPts val="2800"/>
              </ns1:lnSpc>
            </ns1:pPr>
            <ns1:r>
              <ns1:rPr lang="tr-TR" sz="2000" dirty="0">
                <ns1:solidFill>
                  <ns1:srgbClr val="000000"/>
                </ns1:solidFill>
                <ns1:latin typeface="Arial"/>
                <ns1:ea typeface="Arial"/>
                <ns1:cs typeface="Arial"/>
                <ns1:sym typeface="Arial"/>
              </ns1:rPr>
              <ns1:t>Ajan; arama, metadata inceleme, profiling, mekansal alan tespiti ve doğal dil analizi işlevlerini tek yapıda birleştirmiştir. Web arayüzü ve MCP araçları aynı katalog üzerinde çalışmaktadır.</ns1:t>
            </ns1:r>
          </ns1:p>
          <ns1:p>
            <ns1:pPr algn="just">
              <ns1:lnSpc>
                <ns1:spcPts val="2800"/>
              </ns1:lnSpc>
            </ns1:pPr>
            <ns1:endParaRPr lang="tr-TR" sz="2000" dirty="0">
              <ns1:solidFill>
                <ns1:srgbClr val="000000"/>
              </ns1:solidFill>
              <ns1:latin typeface="Arial"/>
              <ns1:ea typeface="Arial"/>
              <ns1:cs typeface="Arial"/>
              <ns1:sym typeface="Arial"/>
            </ns1:endParaRPr>
          </ns1:p>
          <ns1:p>
            <ns1:pPr algn="just">
              <ns1:lnSpc>
                <ns1:spcPts val="2800"/>
              </ns1:lnSpc>
            </ns1:pPr>
            <ns1:endParaRPr lang="tr-TR" sz="2000" dirty="0">
              <ns1:solidFill>
                <ns1:srgbClr val="000000"/>
              </ns1:solidFill>
              <ns1:latin typeface="Arial"/>
              <ns1:ea typeface="Arial"/>
              <ns1:cs typeface="Arial"/>
              <ns1:sym typeface="Arial"/>
            </ns1:endParaRPr>
          </ns1:p>
        </ns0:txBody>
      </ns0:sp>
      <ns0:sp>
        <ns0:nvSpPr>
          <ns0:cNvPr id="83" name="TextBox 83"/>
          <ns0:cNvSpPr txBox="1"/>
          <ns0:nvPr/>
        </ns0:nvSpPr>
        <ns0:spPr>
          <ns1:xfrm>
            <ns1:off x="6641526" y="15423657"/>
            <ns1:ext cx="7473366" cy="718145"/>
          </ns1:xfrm>
          <ns1:prstGeom prst="rect">
            <ns1:avLst/>
          </ns1:prstGeom>
        </ns0:spPr>
        <ns0:txBody>
          <ns1:bodyPr lIns="0" tIns="0" rIns="0" bIns="0" rtlCol="0" anchor="t">
            <ns1:spAutoFit/>
          </ns1:bodyPr>
          <ns1:lstStyle/>
          <ns1:p>
            <ns1:pPr algn="just">
              <ns1:lnSpc>
                <ns1:spcPts val="2800"/>
              </ns1:lnSpc>
            </ns1:pPr>
            <ns1:r>
              <ns1:rPr lang="tr-TR" sz="2000" b="1" dirty="0">
                <ns1:solidFill>
                  <ns1:srgbClr val="000000"/>
                </ns1:solidFill>
                <ns1:latin typeface="Arial Bold"/>
                <ns1:ea typeface="Arial Bold"/>
                <ns1:cs typeface="Arial Bold"/>
                <ns1:sym typeface="Arial Bold"/>
              </ns1:rPr>
              <ns1:t>Şekil  2.</ns1:t>
            </ns1:r>
            <ns1:r>
              <ns1:rPr lang="tr-TR" sz="2000" dirty="0">
                <ns1:solidFill>
                  <ns1:srgbClr val="000000"/>
                </ns1:solidFill>
                <ns1:latin typeface="Arial"/>
                <ns1:ea typeface="Arial"/>
                <ns1:cs typeface="Arial"/>
                <ns1:sym typeface="Arial"/>
              </ns1:rPr>
              <ns1:t>Şekil 2. Sistem çıktısı: katalog tarama, capability tespiti, preview ve LLM desteği.</ns1:t>
            </ns1:r>
          </ns1:p>
        </ns0:txBody>
      </ns0:sp>
      <ns0:sp>
        <ns0:nvSpPr>
          <ns0:cNvPr id="84" name="TextBox 84"/>
          <ns0:cNvSpPr txBox="1"/>
          <ns0:nvPr/>
        </ns0:nvSpPr>
        <ns0:spPr>
          <ns1:xfrm>
            <ns1:off x="991500" y="11948193"/>
            <ns1:ext cx="8995380" cy="739775"/>
          </ns1:xfrm>
          <ns1:prstGeom prst="rect">
            <ns1:avLst/>
          </ns1:prstGeom>
        </ns0:spPr>
        <ns0:txBody>
          <ns1:bodyPr lIns="0" tIns="0" rIns="0" bIns="0" rtlCol="0" anchor="t">
            <ns1:spAutoFit/>
          </ns1:bodyPr>
          <ns1:lstStyle/>
          <ns1:p>
            <ns1:pPr algn="just">
              <ns1:lnSpc>
                <ns1:spcPts val="2800"/>
              </ns1:lnSpc>
            </ns1:pPr>
            <ns1:r>
              <ns1:rPr lang="tr-TR" sz="2000" b="1" dirty="0">
                <ns1:solidFill>
                  <ns1:srgbClr val="000000"/>
                </ns1:solidFill>
                <ns1:latin typeface="Arial Bold"/>
                <ns1:ea typeface="Arial Bold"/>
                <ns1:cs typeface="Arial Bold"/>
                <ns1:sym typeface="Arial Bold"/>
              </ns1:rPr>
              <ns1:t>Tablo 1.</ns1:t>
            </ns1:r>
            <ns1:r>
              <ns1:rPr lang="tr-TR" sz="2000" dirty="0">
                <ns1:solidFill>
                  <ns1:srgbClr val="000000"/>
                </ns1:solidFill>
                <ns1:latin typeface="Arial"/>
                <ns1:ea typeface="Arial"/>
                <ns1:cs typeface="Arial"/>
                <ns1:sym typeface="Arial"/>
              </ns1:rPr>
              <ns1:t>Temel modüller: CKAN katalogu, MCP araçları, web arayüzü ve LLM destekli analiz.</ns1:t>
            </ns1:r>
          </ns1:p>
        </ns0:txBody>
      </ns0:sp>
      <ns0:sp>
        <ns0:nvSpPr>
          <ns0:cNvPr id="85" name="TextBox 85"/>
          <ns0:cNvSpPr txBox="1"/>
          <ns0:nvPr/>
        </ns0:nvSpPr>
        <ns0:spPr>
          <ns1:xfrm>
            <ns1:off x="1023787" y="12725948"/>
            <ns1:ext cx="2072558" cy="397545"/>
          </ns1:xfrm>
          <ns1:prstGeom prst="rect">
            <ns1:avLst/>
          </ns1:prstGeom>
        </ns0:spPr>
        <ns0:txBody>
          <ns1:bodyPr lIns="0" tIns="0" rIns="0" bIns="0" rtlCol="0" anchor="t">
            <ns1:spAutoFit/>
          </ns1:bodyPr>
          <ns1:lstStyle/>
          <ns1:p>
            <ns1:pPr algn="ctr">
              <ns1:lnSpc>
                <ns1:spcPts val="3079"/>
              </ns1:lnSpc>
            </ns1:pPr>
            <ns1:r>
              <ns1:rPr lang="tr-TR" sz="2199" b="1" dirty="0" err="1">
                <ns1:solidFill>
                  <ns1:srgbClr val="FFFFFF"/>
                </ns1:solidFill>
                <ns1:latin typeface="Arial Bold"/>
                <ns1:ea typeface="Arial Bold"/>
                <ns1:cs typeface="Arial Bold"/>
                <ns1:sym typeface="Arial Bold"/>
              </ns1:rPr>
              <ns1:t>CKAN</ns1:t>
            </ns1:r>
            <ns1:r>
              <ns1:rPr lang="tr-TR" sz="2199" b="1" dirty="0">
                <ns1:solidFill>
                  <ns1:srgbClr val="FFFFFF"/>
                </ns1:solidFill>
                <ns1:latin typeface="Arial Bold"/>
                <ns1:ea typeface="Arial Bold"/>
                <ns1:cs typeface="Arial Bold"/>
                <ns1:sym typeface="Arial Bold"/>
              </ns1:rPr>
              <ns1:t/>
            </ns1:r>
          </ns1:p>
        </ns0:txBody>
      </ns0:sp>
      <ns0:sp>
        <ns0:nvSpPr>
          <ns0:cNvPr id="86" name="TextBox 86"/>
          <ns0:cNvSpPr txBox="1"/>
          <ns0:nvPr/>
        </ns0:nvSpPr>
        <ns0:spPr>
          <ns1:xfrm>
            <ns1:off x="2575386" y="12716098"/>
            <ns1:ext cx="2072099" cy="410725"/>
          </ns1:xfrm>
          <ns1:prstGeom prst="rect">
            <ns1:avLst/>
          </ns1:prstGeom>
        </ns0:spPr>
        <ns0:txBody>
          <ns1:bodyPr lIns="0" tIns="0" rIns="0" bIns="0" rtlCol="0" anchor="t">
            <ns1:spAutoFit/>
          </ns1:bodyPr>
          <ns1:lstStyle/>
          <ns1:p>
            <ns1:pPr algn="ctr">
              <ns1:lnSpc>
                <ns1:spcPts val="3086"/>
              </ns1:lnSpc>
            </ns1:pPr>
            <ns1:r>
              <ns1:rPr lang="tr-TR" sz="2204" b="1" dirty="0" err="1">
                <ns1:solidFill>
                  <ns1:srgbClr val="FFFFFF"/>
                </ns1:solidFill>
                <ns1:latin typeface="Arial Bold"/>
                <ns1:ea typeface="Arial Bold"/>
                <ns1:cs typeface="Arial Bold"/>
                <ns1:sym typeface="Arial Bold"/>
              </ns1:rPr>
              <ns1:t>MCP</ns1:t>
            </ns1:r>
            <ns1:r>
              <ns1:rPr lang="tr-TR" sz="2204" b="1" dirty="0">
                <ns1:solidFill>
                  <ns1:srgbClr val="FFFFFF"/>
                </ns1:solidFill>
                <ns1:latin typeface="Arial Bold"/>
                <ns1:ea typeface="Arial Bold"/>
                <ns1:cs typeface="Arial Bold"/>
                <ns1:sym typeface="Arial Bold"/>
              </ns1:rPr>
              <ns1:t/>
            </ns1:r>
          </ns1:p>
        </ns0:txBody>
      </ns0:sp>
      <ns0:sp>
        <ns0:nvSpPr>
          <ns0:cNvPr id="87" name="TextBox 87"/>
          <ns0:cNvSpPr txBox="1"/>
          <ns0:nvPr/>
        </ns0:nvSpPr>
        <ns0:spPr>
          <ns1:xfrm>
            <ns1:off x="7873787" y="12735593"/>
            <ns1:ext cx="2045350" cy="410725"/>
          </ns1:xfrm>
          <ns1:prstGeom prst="rect">
            <ns1:avLst/>
          </ns1:prstGeom>
        </ns0:spPr>
        <ns0:txBody>
          <ns1:bodyPr lIns="0" tIns="0" rIns="0" bIns="0" rtlCol="0" anchor="t">
            <ns1:spAutoFit/>
          </ns1:bodyPr>
          <ns1:lstStyle/>
          <ns1:p>
            <ns1:pPr algn="ctr">
              <ns1:lnSpc>
                <ns1:spcPts val="3086"/>
              </ns1:lnSpc>
            </ns1:pPr>
            <ns1:r>
              <ns1:rPr lang="tr-TR" sz="2204" b="1" dirty="0" err="1">
                <ns1:solidFill>
                  <ns1:srgbClr val="FFFFFF"/>
                </ns1:solidFill>
                <ns1:latin typeface="Arial Bold"/>
                <ns1:ea typeface="Arial Bold"/>
                <ns1:cs typeface="Arial Bold"/>
                <ns1:sym typeface="Arial Bold"/>
              </ns1:rPr>
              <ns1:t>WEB</ns1:t>
            </ns1:r>
            <ns1:r>
              <ns1:rPr lang="tr-TR" sz="2204" b="1" dirty="0">
                <ns1:solidFill>
                  <ns1:srgbClr val="FFFFFF"/>
                </ns1:solidFill>
                <ns1:latin typeface="Arial Bold"/>
                <ns1:ea typeface="Arial Bold"/>
                <ns1:cs typeface="Arial Bold"/>
                <ns1:sym typeface="Arial Bold"/>
              </ns1:rPr>
              <ns1:t/>
            </ns1:r>
          </ns1:p>
        </ns0:txBody>
      </ns0:sp>
      <ns0:sp>
        <ns0:nvSpPr>
          <ns0:cNvPr id="88" name="TextBox 88"/>
          <ns0:cNvSpPr txBox="1"/>
          <ns0:nvPr/>
        </ns0:nvSpPr>
        <ns0:spPr>
          <ns1:xfrm>
            <ns1:off x="1232966" y="17493568"/>
            <ns1:ext cx="6486220" cy="628377"/>
          </ns1:xfrm>
          <ns1:prstGeom prst="rect">
            <ns1:avLst/>
          </ns1:prstGeom>
        </ns0:spPr>
        <ns0:txBody>
          <ns1:bodyPr lIns="0" tIns="0" rIns="0" bIns="0" rtlCol="0" anchor="t">
            <ns1:spAutoFit/>
          </ns1:bodyPr>
          <ns1:lstStyle/>
          <ns1:p>
            <ns1:pPr algn="ctr">
              <ns1:lnSpc>
                <ns1:spcPts val="4900"/>
              </ns1:lnSpc>
            </ns1:pPr>
            <ns1:r>
              <ns1:rPr lang="tr-TR" sz="3500" b="1" dirty="0">
                <ns1:solidFill>
                  <ns1:srgbClr val="FFFFFF"/>
                </ns1:solidFill>
                <ns1:latin typeface="Arial Bold"/>
                <ns1:ea typeface="Arial Bold"/>
                <ns1:cs typeface="Arial Bold"/>
                <ns1:sym typeface="Arial Bold"/>
              </ns1:rPr>
              <ns1:t>Sonuç ve Öneriler</ns1:t>
            </ns1:r>
          </ns1:p>
        </ns0:txBody>
      </ns0:sp>
      <ns0:sp>
        <ns0:nvSpPr>
          <ns0:cNvPr id="89" name="TextBox 89"/>
          <ns0:cNvSpPr txBox="1"/>
          <ns0:nvPr/>
        </ns0:nvSpPr>
        <ns0:spPr>
          <ns1:xfrm>
            <ns1:off x="4165299" y="12716198"/>
            <ns1:ext cx="2072099" cy="410725"/>
          </ns1:xfrm>
          <ns1:prstGeom prst="rect">
            <ns1:avLst/>
          </ns1:prstGeom>
        </ns0:spPr>
        <ns0:txBody>
          <ns1:bodyPr lIns="0" tIns="0" rIns="0" bIns="0" rtlCol="0" anchor="t">
            <ns1:spAutoFit/>
          </ns1:bodyPr>
          <ns1:lstStyle/>
          <ns1:p>
            <ns1:pPr algn="ctr">
              <ns1:lnSpc>
                <ns1:spcPts val="3086"/>
              </ns1:lnSpc>
            </ns1:pPr>
            <ns1:r>
              <ns1:rPr lang="tr-TR" sz="2204" b="1" dirty="0" err="1">
                <ns1:solidFill>
                  <ns1:srgbClr val="FFFFFF"/>
                </ns1:solidFill>
                <ns1:latin typeface="Arial Bold"/>
                <ns1:ea typeface="Arial Bold"/>
                <ns1:cs typeface="Arial Bold"/>
                <ns1:sym typeface="Arial Bold"/>
              </ns1:rPr>
              <ns1:t>LLM</ns1:t>
            </ns1:r>
            <ns1:r>
              <ns1:rPr lang="tr-TR" sz="2204" b="1" dirty="0">
                <ns1:solidFill>
                  <ns1:srgbClr val="FFFFFF"/>
                </ns1:solidFill>
                <ns1:latin typeface="Arial Bold"/>
                <ns1:ea typeface="Arial Bold"/>
                <ns1:cs typeface="Arial Bold"/>
                <ns1:sym typeface="Arial Bold"/>
              </ns1:rPr>
              <ns1:t/>
            </ns1:r>
          </ns1:p>
        </ns0:txBody>
      </ns0:sp>
      <ns0:sp>
        <ns0:nvSpPr>
          <ns0:cNvPr id="90" name="TextBox 90"/>
          <ns0:cNvSpPr txBox="1"/>
          <ns0:nvPr/>
        </ns0:nvSpPr>
        <ns0:spPr>
          <ns1:xfrm>
            <ns1:off x="717557" y="18604577"/>
            <ns1:ext cx="7459800" cy="2149475"/>
          </ns1:xfrm>
          <ns1:prstGeom prst="rect">
            <ns1:avLst/>
          </ns1:prstGeom>
        </ns0:spPr>
        <ns0:txBody>
          <ns1:bodyPr lIns="0" tIns="0" rIns="0" bIns="0" rtlCol="0" anchor="t">
            <ns1:spAutoFit/>
          </ns1:bodyPr>
          <ns1:lstStyle/>
          <ns1:p>
            <ns1:pPr algn="just">
              <ns1:lnSpc>
                <ns1:spcPts val="2800"/>
              </ns1:lnSpc>
            </ns1:pPr>
            <ns1:r>
              <ns1:rPr lang="tr-TR" sz="2000" dirty="0">
                <ns1:solidFill>
                  <ns1:srgbClr val="000000"/>
                </ns1:solidFill>
                <ns1:latin typeface="Arial"/>
                <ns1:ea typeface="Arial"/>
                <ns1:cs typeface="Arial"/>
                <ns1:sym typeface="Arial"/>
              </ns1:rPr>
              <ns1:t>Çalışma, açık veri keşfini hızlandıran ölçeklenebilir bir ajan yaklaşımı sunmuştur. Gelecekte embedding tabanlı discovery, cache ve rapor üretimi eklenebilir.</ns1:t>
            </ns1:r>
          </ns1:p>
          <ns1:p>
            <ns1:pPr algn="just">
              <ns1:lnSpc>
                <ns1:spcPts val="2800"/>
              </ns1:lnSpc>
            </ns1:pPr>
            <ns1:endParaRPr lang="tr-TR" sz="2000" dirty="0">
              <ns1:solidFill>
                <ns1:srgbClr val="000000"/>
              </ns1:solidFill>
              <ns1:latin typeface="Arial"/>
              <ns1:ea typeface="Arial"/>
              <ns1:cs typeface="Arial"/>
              <ns1:sym typeface="Arial"/>
            </ns1:endParaRPr>
          </ns1:p>
          <ns1:p>
            <ns1:pPr algn="just">
              <ns1:lnSpc>
                <ns1:spcPts val="2800"/>
              </ns1:lnSpc>
            </ns1:pPr>
            <ns1:endParaRPr lang="tr-TR" sz="2000" dirty="0">
              <ns1:solidFill>
                <ns1:srgbClr val="000000"/>
              </ns1:solidFill>
              <ns1:latin typeface="Arial"/>
              <ns1:ea typeface="Arial"/>
              <ns1:cs typeface="Arial"/>
              <ns1:sym typeface="Arial"/>
            </ns1:endParaRPr>
          </ns1:p>
        </ns0:txBody>
      </ns0:sp>
      <ns0:sp>
        <ns0:nvSpPr>
          <ns0:cNvPr id="91" name="TextBox 91"/>
          <ns0:cNvSpPr txBox="1"/>
          <ns0:nvPr/>
        </ns0:nvSpPr>
        <ns0:spPr>
          <ns1:xfrm>
            <ns1:off x="7377180" y="7605499"/>
            <ns1:ext cx="1023495" cy="359073"/>
          </ns1:xfrm>
          <ns1:prstGeom prst="rect">
            <ns1:avLst/>
          </ns1:prstGeom>
        </ns0:spPr>
        <ns0:txBody>
          <ns1:bodyPr lIns="0" tIns="0" rIns="0" bIns="0" rtlCol="0" anchor="t">
            <ns1:spAutoFit/>
          </ns1:bodyPr>
          <ns1:lstStyle/>
          <ns1:p>
            <ns1:pPr algn="ctr">
              <ns1:lnSpc>
                <ns1:spcPts val="2800"/>
              </ns1:lnSpc>
            </ns1:pPr>
            <ns1:r>
              <ns1:rPr lang="tr-TR" sz="2000" b="1" dirty="0">
                <ns1:solidFill>
                  <ns1:srgbClr val="000000"/>
                </ns1:solidFill>
                <ns1:latin typeface="Arial Bold"/>
                <ns1:ea typeface="Arial Bold"/>
                <ns1:cs typeface="Arial Bold"/>
                <ns1:sym typeface="Arial Bold"/>
              </ns1:rPr>
              <ns1:t>Katalog tarama</ns1:t>
            </ns1:r>
          </ns1:p>
        </ns0:txBody>
      </ns0:sp>
      <ns0:sp>
        <ns0:nvSpPr>
          <ns0:cNvPr id="92" name="TextBox 92"/>
          <ns0:cNvSpPr txBox="1"/>
          <ns0:nvPr/>
        </ns0:nvSpPr>
        <ns0:spPr>
          <ns1:xfrm>
            <ns1:off x="9337223" y="7605499"/>
            <ns1:ext cx="1023495" cy="359073"/>
          </ns1:xfrm>
          <ns1:prstGeom prst="rect">
            <ns1:avLst/>
          </ns1:prstGeom>
        </ns0:spPr>
        <ns0:txBody>
          <ns1:bodyPr lIns="0" tIns="0" rIns="0" bIns="0" rtlCol="0" anchor="t">
            <ns1:spAutoFit/>
          </ns1:bodyPr>
          <ns1:lstStyle/>
          <ns1:p>
            <ns1:pPr algn="ctr">
              <ns1:lnSpc>
                <ns1:spcPts val="2800"/>
              </ns1:lnSpc>
            </ns1:pPr>
            <ns1:r>
              <ns1:rPr lang="tr-TR" sz="2000" b="1" dirty="0">
                <ns1:solidFill>
                  <ns1:srgbClr val="000000"/>
                </ns1:solidFill>
                <ns1:latin typeface="Arial Bold"/>
                <ns1:ea typeface="Arial Bold"/>
                <ns1:cs typeface="Arial Bold"/>
                <ns1:sym typeface="Arial Bold"/>
              </ns1:rPr>
              <ns1:t>Yetenek çıkarımı</ns1:t>
            </ns1:r>
          </ns1:p>
        </ns0:txBody>
      </ns0:sp>
      <ns0:sp>
        <ns0:nvSpPr>
          <ns0:cNvPr id="93" name="TextBox 93"/>
          <ns0:cNvSpPr txBox="1"/>
          <ns0:nvPr/>
        </ns0:nvSpPr>
        <ns0:spPr>
          <ns1:xfrm>
            <ns1:off x="11297267" y="7605499"/>
            <ns1:ext cx="1023495" cy="359073"/>
          </ns1:xfrm>
          <ns1:prstGeom prst="rect">
            <ns1:avLst/>
          </ns1:prstGeom>
        </ns0:spPr>
        <ns0:txBody>
          <ns1:bodyPr lIns="0" tIns="0" rIns="0" bIns="0" rtlCol="0" anchor="t">
            <ns1:spAutoFit/>
          </ns1:bodyPr>
          <ns1:lstStyle/>
          <ns1:p>
            <ns1:pPr algn="ctr">
              <ns1:lnSpc>
                <ns1:spcPts val="2800"/>
              </ns1:lnSpc>
            </ns1:pPr>
            <ns1:r>
              <ns1:rPr lang="tr-TR" sz="2000" b="1" dirty="0">
                <ns1:solidFill>
                  <ns1:srgbClr val="000000"/>
                </ns1:solidFill>
                <ns1:latin typeface="Arial Bold"/>
                <ns1:ea typeface="Arial Bold"/>
                <ns1:cs typeface="Arial Bold"/>
                <ns1:sym typeface="Arial Bold"/>
              </ns1:rPr>
              <ns1:t>Veri önizleme</ns1:t>
            </ns1:r>
          </ns1:p>
        </ns0:txBody>
      </ns0:sp>
      <ns0:sp>
        <ns0:nvSpPr>
          <ns0:cNvPr id="94" name="TextBox 94"/>
          <ns0:cNvSpPr txBox="1"/>
          <ns0:nvPr/>
        </ns0:nvSpPr>
        <ns0:spPr>
          <ns1:xfrm>
            <ns1:off x="13257311" y="7605499"/>
            <ns1:ext cx="1023495" cy="359073"/>
          </ns1:xfrm>
          <ns1:prstGeom prst="rect">
            <ns1:avLst/>
          </ns1:prstGeom>
        </ns0:spPr>
        <ns0:txBody>
          <ns1:bodyPr lIns="0" tIns="0" rIns="0" bIns="0" rtlCol="0" anchor="t">
            <ns1:spAutoFit/>
          </ns1:bodyPr>
          <ns1:lstStyle/>
          <ns1:p>
            <ns1:pPr algn="ctr">
              <ns1:lnSpc>
                <ns1:spcPts val="2800"/>
              </ns1:lnSpc>
            </ns1:pPr>
            <ns1:r>
              <ns1:rPr lang="tr-TR" sz="2000" b="1" dirty="0">
                <ns1:solidFill>
                  <ns1:srgbClr val="000000"/>
                </ns1:solidFill>
                <ns1:latin typeface="Arial Bold"/>
                <ns1:ea typeface="Arial Bold"/>
                <ns1:cs typeface="Arial Bold"/>
                <ns1:sym typeface="Arial Bold"/>
              </ns1:rPr>
              <ns1:t>LLM analizi</ns1:t>
            </ns1:r>
          </ns1:p>
        </ns0:txBody>
      </ns0:sp>
      <ns0:sp>
        <ns0:nvSpPr>
          <ns0:cNvPr id="95" name="TextBox 95"/>
          <ns0:cNvSpPr txBox="1"/>
          <ns0:nvPr/>
        </ns0:nvSpPr>
        <ns0:spPr>
          <ns1:xfrm>
            <ns1:off x="8977352" y="17655793"/>
            <ns1:ext cx="3343410" cy="448841"/>
          </ns1:xfrm>
          <ns1:prstGeom prst="rect">
            <ns1:avLst/>
          </ns1:prstGeom>
        </ns0:spPr>
        <ns0:txBody>
          <ns1:bodyPr lIns="0" tIns="0" rIns="0" bIns="0" rtlCol="0" anchor="t">
            <ns1:spAutoFit/>
          </ns1:bodyPr>
          <ns1:lstStyle/>
          <ns1:p>
            <ns1:pPr algn="l">
              <ns1:lnSpc>
                <ns1:spcPts val="3499"/>
              </ns1:lnSpc>
            </ns1:pPr>
            <ns1:r>
              <ns1:rPr lang="tr-TR" sz="2499" b="1" dirty="0">
                <ns1:solidFill>
                  <ns1:srgbClr val="000000"/>
                </ns1:solidFill>
                <ns1:latin typeface="Arial Bold"/>
                <ns1:ea typeface="Arial Bold"/>
                <ns1:cs typeface="Arial Bold"/>
                <ns1:sym typeface="Arial Bold"/>
              </ns1:rPr>
              <ns1:t>Teşekkür</ns1:t>
            </ns1:r>
          </ns1:p>
        </ns0:txBody>
      </ns0:sp>
      <ns0:sp>
        <ns0:nvSpPr>
          <ns0:cNvPr id="96" name="TextBox 96"/>
          <ns0:cNvSpPr txBox="1"/>
          <ns0:nvPr/>
        </ns0:nvSpPr>
        <ns0:spPr>
          <ns1:xfrm>
            <ns1:off x="8896462" y="18080943"/>
            <ns1:ext cx="5594630" cy="1444625"/>
          </ns1:xfrm>
          <ns1:prstGeom prst="rect">
            <ns1:avLst/>
          </ns1:prstGeom>
        </ns0:spPr>
        <ns0:txBody>
          <ns1:bodyPr lIns="0" tIns="0" rIns="0" bIns="0" rtlCol="0" anchor="t">
            <ns1:spAutoFit/>
          </ns1:bodyPr>
          <ns1:lstStyle/>
          <ns1:p>
            <ns1:pPr algn="just">
              <ns1:lnSpc>
                <ns1:spcPts val="2800"/>
              </ns1:lnSpc>
            </ns1:pPr>
            <ns1:r>
              <ns1:rPr lang="tr-TR" sz="2000" dirty="0">
                <ns1:solidFill>
                  <ns1:srgbClr val="000000"/>
                </ns1:solidFill>
                <ns1:latin typeface="Arial"/>
                <ns1:ea typeface="Arial"/>
                <ns1:cs typeface="Arial"/>
                <ns1:sym typeface="Arial"/>
              </ns1:rPr>
              <ns1:t>İBB Açık Veri portalına ve projeye katkı sunan danışmanlara teşekkür ederim.</ns1:t>
            </ns1:r>
          </ns1:p>
        </ns0:txBody>
      </ns0:sp>
      <ns0:sp>
        <ns0:nvSpPr>
          <ns0:cNvPr id="97" name="TextBox 97"/>
          <ns0:cNvSpPr txBox="1"/>
          <ns0:nvPr/>
        </ns0:nvSpPr>
        <ns0:spPr>
          <ns1:xfrm>
            <ns1:off x="8949331" y="19626927"/>
            <ns1:ext cx="3343410" cy="448841"/>
          </ns1:xfrm>
          <ns1:prstGeom prst="rect">
            <ns1:avLst/>
          </ns1:prstGeom>
        </ns0:spPr>
        <ns0:txBody>
          <ns1:bodyPr lIns="0" tIns="0" rIns="0" bIns="0" rtlCol="0" anchor="t">
            <ns1:spAutoFit/>
          </ns1:bodyPr>
          <ns1:lstStyle/>
          <ns1:p>
            <ns1:pPr algn="l">
              <ns1:lnSpc>
                <ns1:spcPts val="3499"/>
              </ns1:lnSpc>
            </ns1:pPr>
            <ns1:r>
              <ns1:rPr lang="tr-TR" sz="2499" b="1" dirty="0">
                <ns1:solidFill>
                  <ns1:srgbClr val="000000"/>
                </ns1:solidFill>
                <ns1:latin typeface="Arial Bold"/>
                <ns1:ea typeface="Arial Bold"/>
                <ns1:cs typeface="Arial Bold"/>
                <ns1:sym typeface="Arial Bold"/>
              </ns1:rPr>
              <ns1:t>Kaynakça</ns1:t>
            </ns1:r>
          </ns1:p>
        </ns0:txBody>
      </ns0:sp>
      <ns0:sp>
        <ns0:nvSpPr>
          <ns0:cNvPr id="98" name="TextBox 98"/>
          <ns0:cNvSpPr txBox="1"/>
          <ns0:nvPr/>
        </ns0:nvSpPr>
        <ns0:spPr>
          <ns1:xfrm>
            <ns1:off x="8977352" y="20105572"/>
            <ns1:ext cx="5593833" cy="718145"/>
          </ns1:xfrm>
          <ns1:prstGeom prst="rect">
            <ns1:avLst/>
          </ns1:prstGeom>
        </ns0:spPr>
        <ns0:txBody>
          <ns1:bodyPr lIns="0" tIns="0" rIns="0" bIns="0" rtlCol="0" anchor="t">
            <ns1:spAutoFit/>
          </ns1:bodyPr>
          <ns1:lstStyle/>
          <ns1:p>
            <ns1:pPr algn="just">
              <ns1:lnSpc>
                <ns1:spcPts val="2800"/>
              </ns1:lnSpc>
            </ns1:pPr>
            <ns1:r>
              <ns1:rPr lang="tr-TR" sz="2000" dirty="0">
                <ns1:solidFill>
                  <ns1:srgbClr val="000000"/>
                </ns1:solidFill>
                <ns1:latin typeface="Arial"/>
                <ns1:ea typeface="Arial"/>
                <ns1:cs typeface="Arial"/>
                <ns1:sym typeface="Arial"/>
              </ns1:rPr>
              <ns1:t>İBB Açık Veri Portalı; CKAN API; Model Context Protocol; OpenAI uyumlu API dokümanları.</ns1:t>
            </ns1:r>
          </ns1:p>
        </ns0:txBody>
      </ns0:sp>
      <ns0:sp>
        <ns0:nvSpPr>
          <ns0:cNvPr id="99" name="TextBox 99"/>
          <ns0:cNvSpPr txBox="1"/>
          <ns0:nvPr/>
        </ns0:nvSpPr>
        <ns0:spPr>
          <ns1:xfrm>
            <ns1:off x="1254411" y="4267562"/>
            <ns1:ext cx="4401845" cy="628377"/>
          </ns1:xfrm>
          <ns1:prstGeom prst="rect">
            <ns1:avLst/>
          </ns1:prstGeom>
        </ns0:spPr>
        <ns0:txBody>
          <ns1:bodyPr lIns="0" tIns="0" rIns="0" bIns="0" rtlCol="0" anchor="t">
            <ns1:spAutoFit/>
          </ns1:bodyPr>
          <ns1:lstStyle/>
          <ns1:p>
            <ns1:pPr algn="ctr">
              <ns1:lnSpc>
                <ns1:spcPts val="4900"/>
              </ns1:lnSpc>
            </ns1:pPr>
            <ns1:r>
              <ns1:rPr lang="tr-TR" sz="3500" b="1" dirty="0">
                <ns1:solidFill>
                  <ns1:srgbClr val="FFFFFF"/>
                </ns1:solidFill>
                <ns1:latin typeface="Arial Bold"/>
                <ns1:ea typeface="Arial Bold"/>
                <ns1:cs typeface="Arial Bold"/>
                <ns1:sym typeface="Arial Bold"/>
              </ns1:rPr>
              <ns1:t>Özet</ns1:t>
            </ns1:r>
          </ns1:p>
        </ns0:txBody>
      </ns0:sp>
      <ns0:sp>
        <ns0:nvSpPr>
          <ns0:cNvPr id="100" name="TextBox 100"/>
          <ns0:cNvSpPr txBox="1"/>
          <ns0:nvPr/>
        </ns0:nvSpPr>
        <ns0:spPr>
          <ns1:xfrm>
            <ns1:off x="926231" y="5062200"/>
            <ns1:ext cx="5151211" cy="1795363"/>
          </ns1:xfrm>
          <ns1:prstGeom prst="rect">
            <ns1:avLst/>
          </ns1:prstGeom>
        </ns0:spPr>
        <ns0:txBody>
          <ns1:bodyPr lIns="0" tIns="0" rIns="0" bIns="0" rtlCol="0" anchor="t">
            <ns1:spAutoFit/>
          </ns1:bodyPr>
          <ns1:lstStyle/>
          <ns1:p>
            <ns1:pPr algn="just">
              <ns1:lnSpc>
                <ns1:spcPts val="2800"/>
              </ns1:lnSpc>
            </ns1:pPr>
            <ns1:r>
              <ns1:rPr lang="tr-TR" sz="2000" dirty="0">
                <ns1:solidFill>
                  <ns1:srgbClr val="000000"/>
                </ns1:solidFill>
                <ns1:latin typeface="Arial"/>
                <ns1:ea typeface="Arial"/>
                <ns1:cs typeface="Arial"/>
                <ns1:sym typeface="Arial"/>
              </ns1:rPr>
              <ns1:t>Bu çalışma, İBB Açık Veri portalındaki veri setlerini web arayüzü ve MCP araçları ile erişilebilir hale getiren metadata odaklı bir şehir ajanı sunmaktadır. Sistem, kullanıcı sorusunu uygun veri setleriyle eşleştirir, erişim yolunu belirler ve gerektiğinde LLM destekli özet üretir.</ns1:t>
            </ns1:r>
          </ns1:p>
          <ns1:p>
            <ns1:pPr algn="just">
              <ns1:lnSpc>
                <ns1:spcPts val="2800"/>
              </ns1:lnSpc>
            </ns1:pPr>
            <ns1:endParaRPr lang="tr-TR" sz="2000" dirty="0">
              <ns1:solidFill>
                <ns1:srgbClr val="000000"/>
              </ns1:solidFill>
              <ns1:latin typeface="Arial"/>
              <ns1:ea typeface="Arial"/>
              <ns1:cs typeface="Arial"/>
              <ns1:sym typeface="Arial"/>
            </ns1:endParaRPr>
          </ns1:p>
          <ns1:p>
            <ns1:pPr algn="just">
              <ns1:lnSpc>
                <ns1:spcPts val="2800"/>
              </ns1:lnSpc>
            </ns1:pPr>
            <ns1:endParaRPr lang="tr-TR" sz="2000" dirty="0">
              <ns1:solidFill>
                <ns1:srgbClr val="000000"/>
              </ns1:solidFill>
              <ns1:latin typeface="Arial"/>
              <ns1:ea typeface="Arial"/>
              <ns1:cs typeface="Arial"/>
              <ns1:sym typeface="Arial"/>
            </ns1:endParaRPr>
          </ns1:p>
        </ns0:txBody>
      </ns0:sp>
      <ns0:sp>
        <ns0:nvSpPr>
          <ns0:cNvPr id="101" name="TextBox 101"/>
          <ns0:cNvSpPr txBox="1"/>
          <ns0:nvPr/>
        </ns0:nvSpPr>
        <ns0:spPr>
          <ns1:xfrm>
            <ns1:off x="3195497" y="466239"/>
            <ns1:ext cx="8688705" cy="1231106"/>
          </ns1:xfrm>
          <ns1:prstGeom prst="rect">
            <ns1:avLst/>
          </ns1:prstGeom>
        </ns0:spPr>
        <ns0:txBody>
          <ns1:bodyPr lIns="0" tIns="0" rIns="0" bIns="0" rtlCol="0" anchor="t">
            <ns1:spAutoFit/>
          </ns1:bodyPr>
          <ns1:lstStyle/>
          <ns1:p>
            <ns1:pPr algn="ctr">
              <ns1:lnSpc>
                <ns1:spcPts val="3210"/>
              </ns1:lnSpc>
            </ns1:pPr>
            <ns1:r>
              <ns1:rPr lang="tr-TR" sz="2800" b="1" dirty="0">
                <ns1:solidFill>
                  <ns1:srgbClr val="241E1D"/>
                </ns1:solidFill>
                <ns1:latin typeface="Arial Bold" panose="020B0604020202020204" charset="-94"/>
                <ns1:ea typeface="Arial Bold"/>
                <ns1:cs typeface="Arial Bold"/>
                <ns1:sym typeface="Arial Bold"/>
              </ns1:rPr>
              <ns1:t>SAMSUN ÜNİVERSİTESİ</ns1:t>
            </ns1:r>
          </ns1:p>
          <ns1:p>
            <ns1:pPr algn="ctr">
              <ns1:lnSpc>
                <ns1:spcPts val="3210"/>
              </ns1:lnSpc>
            </ns1:pPr>
            <ns1:r>
              <ns1:rPr lang="tr-TR" sz="2800" b="1" dirty="0">
                <ns1:solidFill>
                  <ns1:srgbClr val="241E1D"/>
                </ns1:solidFill>
                <ns1:latin typeface="Arial Bold" panose="020B0604020202020204" charset="-94"/>
                <ns1:ea typeface="Arial Bold"/>
                <ns1:cs typeface="Arial Bold"/>
                <ns1:sym typeface="Arial Bold"/>
              </ns1:rPr>
              <ns1:t>MÜHENDİSLİK VE DOĞA BİLİMLERİ FAKÜLTESİ</ns1:t>
            </ns1:r>
          </ns1:p>
          <ns1:p>
            <ns1:pPr algn="ctr">
              <ns1:lnSpc>
                <ns1:spcPts val="3210"/>
              </ns1:lnSpc>
            </ns1:pPr>
            <ns1:r>
              <ns1:rPr lang="tr-TR" sz="2800" b="1" dirty="0">
                <ns1:solidFill>
                  <ns1:srgbClr val="241E1D"/>
                </ns1:solidFill>
                <ns1:latin typeface="Arial Bold" panose="020B0604020202020204" charset="-94"/>
                <ns1:ea typeface="Arial Bold"/>
                <ns1:cs typeface="Arial Bold"/>
                <ns1:sym typeface="Arial Bold"/>
              </ns1:rPr>
              <ns1:t>MCP CITY AGENT POSTERİ</ns1:t>
            </ns1:r>
            <ns1:endParaRPr lang="tr-TR" sz="2800" dirty="0">
              <ns1:solidFill>
                <ns1:srgbClr val="241E1D"/>
              </ns1:solidFill>
              <ns1:latin typeface="Arial Bold" panose="020B0604020202020204" charset="-94"/>
              <ns1:ea typeface="Arial"/>
              <ns1:cs typeface="Arial"/>
              <ns1:sym typeface="Arial"/>
            </ns1:endParaRPr>
          </ns1:p>
        </ns0:txBody>
      </ns0:sp>
      <ns0:sp>
        <ns0:nvSpPr>
          <ns0:cNvPr id="102" name="TextBox 89">
            <ns1:extLst>
              <ns1:ext uri="{FF2B5EF4-FFF2-40B4-BE49-F238E27FC236}">
                <ns4:creationId id="{DFFE3966-ECC0-126D-48C5-2474C8511DE7}"/>
              </ns1:ext>
            </ns1:extLst>
          </ns0:cNvPr>
          <ns0:cNvSpPr txBox="1"/>
          <ns0:nvPr/>
        </ns0:nvSpPr>
        <ns0:spPr>
          <ns1:xfrm>
            <ns1:off x="5729057" y="12716098"/>
            <ns1:ext cx="2072099" cy="397545"/>
          </ns1:xfrm>
          <ns1:prstGeom prst="rect">
            <ns1:avLst/>
          </ns1:prstGeom>
        </ns0:spPr>
        <ns0:txBody>
          <ns1:bodyPr lIns="0" tIns="0" rIns="0" bIns="0" rtlCol="0" anchor="t">
            <ns1:spAutoFit/>
          </ns1:bodyPr>
          <ns1:lstStyle/>
          <ns1:p>
            <ns1:pPr algn="ctr">
              <ns1:lnSpc>
                <ns1:spcPts val="3086"/>
              </ns1:lnSpc>
            </ns1:pPr>
            <ns1:r>
              <ns1:rPr lang="tr-TR" sz="2204" b="1" dirty="0" err="1">
                <ns1:solidFill>
                  <ns1:srgbClr val="FFFFFF"/>
                </ns1:solidFill>
                <ns1:latin typeface="Arial Bold"/>
                <ns1:ea typeface="Arial Bold"/>
                <ns1:cs typeface="Arial Bold"/>
                <ns1:sym typeface="Arial Bold"/>
              </ns1:rPr>
              <ns1:t>API</ns1:t>
            </ns1:r>
            <ns1:r>
              <ns1:rPr lang="tr-TR" sz="2204" b="1" dirty="0">
                <ns1:solidFill>
                  <ns1:srgbClr val="FFFFFF"/>
                </ns1:solidFill>
                <ns1:latin typeface="Arial Bold"/>
                <ns1:ea typeface="Arial Bold"/>
                <ns1:cs typeface="Arial Bold"/>
                <ns1:sym typeface="Arial Bold"/>
              </ns1:rPr>
              <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275</Words>
  <Application>Microsoft Office PowerPoint</Application>
  <PresentationFormat>Özel</PresentationFormat>
  <Paragraphs>32</Paragraphs>
  <Slides>1</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vt:i4>
      </vt:variant>
    </vt:vector>
  </HeadingPairs>
  <TitlesOfParts>
    <vt:vector size="7" baseType="lpstr">
      <vt:lpstr>Arial</vt:lpstr>
      <vt:lpstr>Calibri</vt:lpstr>
      <vt:lpstr>Arial Bold</vt:lpstr>
      <vt:lpstr>Red Hat Display</vt:lpstr>
      <vt:lpstr>Times New Roman</vt:lpstr>
      <vt:lpstr>Office Theme</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Research Poster in Red and White Contemporary Style</dc:title>
  <cp:lastModifiedBy>İlker GÜR</cp:lastModifiedBy>
  <cp:revision>4</cp:revision>
  <dcterms:created xsi:type="dcterms:W3CDTF">2006-08-16T00:00:00Z</dcterms:created>
  <dcterms:modified xsi:type="dcterms:W3CDTF">2025-05-20T10:42:04Z</dcterms:modified>
  <dc:identifier>DAGmywyTjCs</dc:identifier>
</cp:coreProperties>
</file>